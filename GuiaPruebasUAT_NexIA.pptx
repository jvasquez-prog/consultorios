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59" r:id="rId8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?>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" name="Google Shape;4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7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" name="Google Shape;17;p3"/>
          <p:cNvCxnSpPr/>
          <p:nvPr/>
        </p:nvCxnSpPr>
        <p:spPr>
          <a:xfrm>
            <a:off x="9144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18288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" name="Google Shape;19;p3"/>
          <p:cNvCxnSpPr/>
          <p:nvPr/>
        </p:nvCxnSpPr>
        <p:spPr>
          <a:xfrm>
            <a:off x="27432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" name="Google Shape;20;p3"/>
          <p:cNvCxnSpPr/>
          <p:nvPr/>
        </p:nvCxnSpPr>
        <p:spPr>
          <a:xfrm>
            <a:off x="36576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" name="Google Shape;21;p3"/>
          <p:cNvCxnSpPr/>
          <p:nvPr/>
        </p:nvCxnSpPr>
        <p:spPr>
          <a:xfrm>
            <a:off x="4572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" name="Google Shape;22;p3"/>
          <p:cNvCxnSpPr/>
          <p:nvPr/>
        </p:nvCxnSpPr>
        <p:spPr>
          <a:xfrm>
            <a:off x="54864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3"/>
          <p:cNvCxnSpPr/>
          <p:nvPr/>
        </p:nvCxnSpPr>
        <p:spPr>
          <a:xfrm>
            <a:off x="64008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3"/>
          <p:cNvCxnSpPr/>
          <p:nvPr/>
        </p:nvCxnSpPr>
        <p:spPr>
          <a:xfrm>
            <a:off x="73152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" name="Google Shape;25;p3"/>
          <p:cNvCxnSpPr/>
          <p:nvPr/>
        </p:nvCxnSpPr>
        <p:spPr>
          <a:xfrm>
            <a:off x="82296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" name="Google Shape;26;p3"/>
          <p:cNvCxnSpPr/>
          <p:nvPr/>
        </p:nvCxnSpPr>
        <p:spPr>
          <a:xfrm>
            <a:off x="9144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" name="Google Shape;27;p3"/>
          <p:cNvCxnSpPr/>
          <p:nvPr/>
        </p:nvCxnSpPr>
        <p:spPr>
          <a:xfrm>
            <a:off x="0" y="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" name="Google Shape;28;p3"/>
          <p:cNvCxnSpPr/>
          <p:nvPr/>
        </p:nvCxnSpPr>
        <p:spPr>
          <a:xfrm>
            <a:off x="0" y="82296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" name="Google Shape;29;p3"/>
          <p:cNvCxnSpPr/>
          <p:nvPr/>
        </p:nvCxnSpPr>
        <p:spPr>
          <a:xfrm>
            <a:off x="0" y="164592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3"/>
          <p:cNvCxnSpPr/>
          <p:nvPr/>
        </p:nvCxnSpPr>
        <p:spPr>
          <a:xfrm>
            <a:off x="0" y="246888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3"/>
          <p:cNvCxnSpPr/>
          <p:nvPr/>
        </p:nvCxnSpPr>
        <p:spPr>
          <a:xfrm>
            <a:off x="0" y="329184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" name="Google Shape;32;p3"/>
          <p:cNvCxnSpPr/>
          <p:nvPr/>
        </p:nvCxnSpPr>
        <p:spPr>
          <a:xfrm>
            <a:off x="0" y="41148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" name="Google Shape;33;p3"/>
          <p:cNvCxnSpPr/>
          <p:nvPr/>
        </p:nvCxnSpPr>
        <p:spPr>
          <a:xfrm>
            <a:off x="0" y="493776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" name="Google Shape;34;p3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" name="Google Shape;3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71800" y="411480"/>
            <a:ext cx="3200400" cy="139903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6" name="Google Shape;36;p3"/>
          <p:cNvCxnSpPr/>
          <p:nvPr/>
        </p:nvCxnSpPr>
        <p:spPr>
          <a:xfrm>
            <a:off x="1371600" y="2103120"/>
            <a:ext cx="6400800" cy="0"/>
          </a:xfrm>
          <a:prstGeom prst="straightConnector1">
            <a:avLst/>
          </a:prstGeom>
          <a:noFill/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" name="Google Shape;37;p3"/>
          <p:cNvSpPr/>
          <p:nvPr/>
        </p:nvSpPr>
        <p:spPr>
          <a:xfrm>
            <a:off x="914400" y="2331720"/>
            <a:ext cx="7315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9FAFB"/>
                </a:solidFill>
                <a:latin typeface="Calibri"/>
                <a:ea typeface="Calibri"/>
                <a:cs typeface="Calibri"/>
                <a:sym typeface="Calibri"/>
              </a:rPr>
              <a:t>Guía de Pruebas UAT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914400" y="315468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PediConsult — Sesión de pruebas con el cliente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3"/>
          <p:cNvSpPr/>
          <p:nvPr/>
        </p:nvSpPr>
        <p:spPr>
          <a:xfrm>
            <a:off x="914400" y="3703320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Pedile al usuario que haga cada acción él mismo, y anotá lo que pasa</a:t>
            </a:r>
            <a:endParaRPr b="0" i="1" sz="120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0" y="475488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SESIÓN DE PRUEBAS FUNCIONALES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7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526"/>
          </a:solidFill>
          <a:ln cap="flat" cmpd="sng" w="12700">
            <a:solidFill>
              <a:srgbClr val="0D15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7" name="Google Shape;4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8080" y="91440"/>
            <a:ext cx="1371600" cy="598932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4"/>
          <p:cNvSpPr/>
          <p:nvPr/>
        </p:nvSpPr>
        <p:spPr>
          <a:xfrm>
            <a:off x="320040" y="109728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9FAFB"/>
                </a:solidFill>
                <a:latin typeface="Calibri"/>
                <a:ea typeface="Calibri"/>
                <a:cs typeface="Calibri"/>
                <a:sym typeface="Calibri"/>
              </a:rPr>
              <a:t>Antes de empezar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320040" y="658368"/>
            <a:ext cx="2011680" cy="36576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457200" y="868680"/>
            <a:ext cx="822960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900"/>
              </a:spcAft>
              <a:buClr>
                <a:srgbClr val="3B82F6"/>
              </a:buClr>
              <a:buSzPts val="1400"/>
              <a:buFont typeface="Arial"/>
              <a:buChar char="●"/>
            </a:pPr>
            <a:r>
              <a:rPr b="1" i="0" lang="en-US" sz="1400" u="none" cap="none" strike="noStrike">
                <a:solidFill>
                  <a:srgbClr val="F9FAFB"/>
                </a:solidFill>
                <a:latin typeface="Calibri"/>
                <a:ea typeface="Calibri"/>
                <a:cs typeface="Calibri"/>
                <a:sym typeface="Calibri"/>
              </a:rPr>
              <a:t xml:space="preserve">Probá en los dispositivos reales </a:t>
            </a:r>
            <a:r>
              <a:rPr b="0" i="0" lang="en-US" sz="14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que usa el cliente: notebook/PC y el celular que usa a diario.</a:t>
            </a:r>
          </a:p>
          <a:p>
            <a:pPr indent="-228600" lvl="0" marL="228600" marR="0" rtl="0" algn="l">
              <a:spcBef>
                <a:spcPts val="0"/>
              </a:spcBef>
              <a:spcAft>
                <a:spcPts val="900"/>
              </a:spcAft>
              <a:buClr>
                <a:srgbClr val="3B82F6"/>
              </a:buClr>
              <a:buSzPts val="1400"/>
              <a:buFont typeface="Arial"/>
              <a:buChar char="●"/>
            </a:pPr>
            <a:r>
              <a:rPr b="1" i="0" lang="en-US" sz="1400" u="none" cap="none" strike="noStrike">
                <a:solidFill>
                  <a:srgbClr val="F9FAFB"/>
                </a:solidFill>
                <a:latin typeface="Calibri"/>
                <a:ea typeface="Calibri"/>
                <a:cs typeface="Calibri"/>
                <a:sym typeface="Calibri"/>
              </a:rPr>
              <a:t xml:space="preserve">Usá pacientes de prueba, no reales. </a:t>
            </a:r>
            <a:r>
              <a:rPr b="0" i="0" lang="en-US" sz="14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Cargalos al arrancar y borralos al final.</a:t>
            </a:r>
          </a:p>
          <a:p>
            <a:pPr indent="-228600" lvl="0" marL="228600" marR="0" rtl="0" algn="l">
              <a:spcBef>
                <a:spcPts val="0"/>
              </a:spcBef>
              <a:spcAft>
                <a:spcPts val="900"/>
              </a:spcAft>
              <a:buClr>
                <a:srgbClr val="3B82F6"/>
              </a:buClr>
              <a:buSzPts val="1400"/>
              <a:buFont typeface="Arial"/>
              <a:buChar char="●"/>
            </a:pPr>
            <a:r>
              <a:rPr b="1" i="0" lang="en-US" sz="1400" u="none" cap="none" strike="noStrike">
                <a:solidFill>
                  <a:srgbClr val="F9FAFB"/>
                </a:solidFill>
                <a:latin typeface="Calibri"/>
                <a:ea typeface="Calibri"/>
                <a:cs typeface="Calibri"/>
                <a:sym typeface="Calibri"/>
              </a:rPr>
              <a:t xml:space="preserve">Anotá todo en el momento, </a:t>
            </a:r>
            <a:r>
              <a:rPr b="0" i="0" lang="en-US" sz="14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no de memoria al final: los detalles de un bug se pierden rápido.</a:t>
            </a:r>
          </a:p>
          <a:p>
            <a:pPr indent="-228600" lvl="0" marL="228600" marR="0" rtl="0" algn="l">
              <a:spcBef>
                <a:spcPts val="0"/>
              </a:spcBef>
              <a:spcAft>
                <a:spcPts val="900"/>
              </a:spcAft>
              <a:buClr>
                <a:srgbClr val="3B82F6"/>
              </a:buClr>
              <a:buSzPts val="1400"/>
              <a:buFont typeface="Arial"/>
              <a:buChar char="●"/>
            </a:pPr>
            <a:r>
              <a:rPr b="1" i="0" lang="en-US" sz="1400" u="none" cap="none" strike="noStrike">
                <a:solidFill>
                  <a:srgbClr val="F9FAFB"/>
                </a:solidFill>
                <a:latin typeface="Calibri"/>
                <a:ea typeface="Calibri"/>
                <a:cs typeface="Calibri"/>
                <a:sym typeface="Calibri"/>
              </a:rPr>
              <a:t xml:space="preserve">Tené a mano el template de reporte de bug </a:t>
            </a:r>
            <a:r>
              <a:rPr b="0" i="0" lang="en-US" sz="14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para cada problema que aparezca.</a:t>
            </a: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400"/>
              <a:buFont typeface="Arial"/>
              <a:buChar char="●"/>
            </a:pPr>
            <a:r>
              <a:rPr b="1" i="0" lang="en-US" sz="1400" u="none" cap="none" strike="noStrike">
                <a:solidFill>
                  <a:srgbClr val="F9FAFB"/>
                </a:solidFill>
                <a:latin typeface="Calibri"/>
                <a:ea typeface="Calibri"/>
                <a:cs typeface="Calibri"/>
                <a:sym typeface="Calibri"/>
              </a:rPr>
              <a:t xml:space="preserve">Repetí las pruebas de voz </a:t>
            </a:r>
            <a:r>
              <a:rPr b="0" i="0" lang="en-US" sz="14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al menos una vez en notebook y una vez en celular.</a:t>
            </a:r>
          </a:p>
        </p:txBody>
      </p:sp>
      <p:cxnSp>
        <p:nvCxnSpPr>
          <p:cNvPr id="51" name="Google Shape;51;p4"/>
          <p:cNvCxnSpPr/>
          <p:nvPr/>
        </p:nvCxnSpPr>
        <p:spPr>
          <a:xfrm>
            <a:off x="320040" y="4800600"/>
            <a:ext cx="8503920" cy="0"/>
          </a:xfrm>
          <a:prstGeom prst="straightConnector1">
            <a:avLst/>
          </a:prstGeom>
          <a:noFill/>
          <a:ln cap="flat" cmpd="sng" w="9525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" name="Google Shape;52;p4"/>
          <p:cNvSpPr/>
          <p:nvPr/>
        </p:nvSpPr>
        <p:spPr>
          <a:xfrm>
            <a:off x="320040" y="4846320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NexIA · Intelligence That Works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4" name="Google Shape;84;p6"/>
          <p:cNvCxnSpPr/>
          <p:nvPr/>
        </p:nvCxnSpPr>
        <p:spPr>
          <a:xfrm>
            <a:off x="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" name="Google Shape;85;p6"/>
          <p:cNvCxnSpPr/>
          <p:nvPr/>
        </p:nvCxnSpPr>
        <p:spPr>
          <a:xfrm>
            <a:off x="9144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" name="Google Shape;86;p6"/>
          <p:cNvCxnSpPr/>
          <p:nvPr/>
        </p:nvCxnSpPr>
        <p:spPr>
          <a:xfrm>
            <a:off x="18288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" name="Google Shape;87;p6"/>
          <p:cNvCxnSpPr/>
          <p:nvPr/>
        </p:nvCxnSpPr>
        <p:spPr>
          <a:xfrm>
            <a:off x="27432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8" name="Google Shape;88;p6"/>
          <p:cNvCxnSpPr/>
          <p:nvPr/>
        </p:nvCxnSpPr>
        <p:spPr>
          <a:xfrm>
            <a:off x="36576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" name="Google Shape;89;p6"/>
          <p:cNvCxnSpPr/>
          <p:nvPr/>
        </p:nvCxnSpPr>
        <p:spPr>
          <a:xfrm>
            <a:off x="4572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0" name="Google Shape;90;p6"/>
          <p:cNvCxnSpPr/>
          <p:nvPr/>
        </p:nvCxnSpPr>
        <p:spPr>
          <a:xfrm>
            <a:off x="54864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1" name="Google Shape;91;p6"/>
          <p:cNvCxnSpPr/>
          <p:nvPr/>
        </p:nvCxnSpPr>
        <p:spPr>
          <a:xfrm>
            <a:off x="64008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" name="Google Shape;92;p6"/>
          <p:cNvCxnSpPr/>
          <p:nvPr/>
        </p:nvCxnSpPr>
        <p:spPr>
          <a:xfrm>
            <a:off x="73152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3" name="Google Shape;93;p6"/>
          <p:cNvCxnSpPr/>
          <p:nvPr/>
        </p:nvCxnSpPr>
        <p:spPr>
          <a:xfrm>
            <a:off x="82296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4" name="Google Shape;94;p6"/>
          <p:cNvCxnSpPr/>
          <p:nvPr/>
        </p:nvCxnSpPr>
        <p:spPr>
          <a:xfrm>
            <a:off x="9144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5" name="Google Shape;95;p6"/>
          <p:cNvCxnSpPr/>
          <p:nvPr/>
        </p:nvCxnSpPr>
        <p:spPr>
          <a:xfrm>
            <a:off x="0" y="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6" name="Google Shape;96;p6"/>
          <p:cNvCxnSpPr/>
          <p:nvPr/>
        </p:nvCxnSpPr>
        <p:spPr>
          <a:xfrm>
            <a:off x="0" y="82296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7" name="Google Shape;97;p6"/>
          <p:cNvCxnSpPr/>
          <p:nvPr/>
        </p:nvCxnSpPr>
        <p:spPr>
          <a:xfrm>
            <a:off x="0" y="164592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" name="Google Shape;98;p6"/>
          <p:cNvCxnSpPr/>
          <p:nvPr/>
        </p:nvCxnSpPr>
        <p:spPr>
          <a:xfrm>
            <a:off x="0" y="246888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" name="Google Shape;99;p6"/>
          <p:cNvCxnSpPr/>
          <p:nvPr/>
        </p:nvCxnSpPr>
        <p:spPr>
          <a:xfrm>
            <a:off x="0" y="329184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6"/>
          <p:cNvCxnSpPr/>
          <p:nvPr/>
        </p:nvCxnSpPr>
        <p:spPr>
          <a:xfrm>
            <a:off x="0" y="41148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6"/>
          <p:cNvCxnSpPr/>
          <p:nvPr/>
        </p:nvCxnSpPr>
        <p:spPr>
          <a:xfrm>
            <a:off x="0" y="493776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2" name="Google Shape;102;p6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3" name="Google Shape;10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71800" y="548640"/>
            <a:ext cx="3200400" cy="139903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4" name="Google Shape;104;p6"/>
          <p:cNvCxnSpPr/>
          <p:nvPr/>
        </p:nvCxnSpPr>
        <p:spPr>
          <a:xfrm>
            <a:off x="1828800" y="2148840"/>
            <a:ext cx="5486400" cy="0"/>
          </a:xfrm>
          <a:prstGeom prst="straightConnector1">
            <a:avLst/>
          </a:prstGeom>
          <a:noFill/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5" name="Google Shape;105;p6"/>
          <p:cNvSpPr/>
          <p:nvPr/>
        </p:nvSpPr>
        <p:spPr>
          <a:xfrm>
            <a:off x="914400" y="2331720"/>
            <a:ext cx="7315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9FAFB"/>
                </a:solidFill>
                <a:latin typeface="Calibri"/>
                <a:ea typeface="Calibri"/>
                <a:cs typeface="Calibri"/>
                <a:sym typeface="Calibri"/>
              </a:rPr>
              <a:t>Anotá todo en el momento.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Un bug bien reportado se arregla el doble de rápido.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0" y="475488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GUÍA DE PRUEBAS UAT · PEDICONSULT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7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526"/>
          </a:solidFill>
          <a:ln cap="flat" cmpd="sng" w="12700">
            <a:solidFill>
              <a:srgbClr val="0D15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7" name="Google Shape;4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8080" y="91440"/>
            <a:ext cx="1371600" cy="598932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4"/>
          <p:cNvSpPr/>
          <p:nvPr/>
        </p:nvSpPr>
        <p:spPr>
          <a:xfrm>
            <a:off x="320040" y="109728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9FAFB"/>
                </a:solidFill>
                <a:latin typeface="Calibri"/>
                <a:ea typeface="Calibri"/>
                <a:cs typeface="Calibri"/>
                <a:sym typeface="Calibri"/>
              </a:rPr>
              <a:t>1. Acceso y perfil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320040" y="658368"/>
            <a:ext cx="2011680" cy="36576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457200" y="868680"/>
            <a:ext cx="822960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900"/>
              </a:spcAft>
              <a:buClr>
                <a:srgbClr val="3B82F6"/>
              </a:buClr>
              <a:buSzPts val="1400"/>
              <a:buFont typeface="Arial"/>
              <a:buChar char="●"/>
            </a:pPr>
            <a:r>
              <a:rPr b="1" i="0" lang="en-US" sz="1400" u="none" cap="none" strike="noStrike">
                <a:solidFill>
                  <a:srgbClr val="F9FAFB"/>
                </a:solidFill>
                <a:latin typeface="Calibri"/>
                <a:ea typeface="Calibri"/>
                <a:cs typeface="Calibri"/>
                <a:sym typeface="Calibri"/>
              </a:rPr>
              <a:t xml:space="preserve">Abrir la app por primera vez: </a:t>
            </a:r>
            <a:r>
              <a:rPr b="0" i="0" lang="en-US" sz="14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pide crear un PIN de 4 dígitos, dos veces para confirmar.</a:t>
            </a:r>
          </a:p>
          <a:p>
            <a:pPr indent="-228600" lvl="0" marL="228600" marR="0" rtl="0" algn="l">
              <a:spcBef>
                <a:spcPts val="0"/>
              </a:spcBef>
              <a:spcAft>
                <a:spcPts val="900"/>
              </a:spcAft>
              <a:buClr>
                <a:srgbClr val="3B82F6"/>
              </a:buClr>
              <a:buSzPts val="1400"/>
              <a:buFont typeface="Arial"/>
              <a:buChar char="●"/>
            </a:pPr>
            <a:r>
              <a:rPr b="1" i="0" lang="en-US" sz="1400" u="none" cap="none" strike="noStrike">
                <a:solidFill>
                  <a:srgbClr val="F9FAFB"/>
                </a:solidFill>
                <a:latin typeface="Calibri"/>
                <a:ea typeface="Calibri"/>
                <a:cs typeface="Calibri"/>
                <a:sym typeface="Calibri"/>
              </a:rPr>
              <a:t xml:space="preserve">Cerrar y volver a abrir: </a:t>
            </a:r>
            <a:r>
              <a:rPr b="0" i="0" lang="en-US" sz="14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pide el PIN ya creado, no vuelve a pedir crear uno.</a:t>
            </a:r>
          </a:p>
          <a:p>
            <a:pPr indent="-228600" lvl="0" marL="228600" marR="0" rtl="0" algn="l">
              <a:spcBef>
                <a:spcPts val="0"/>
              </a:spcBef>
              <a:spcAft>
                <a:spcPts val="900"/>
              </a:spcAft>
              <a:buClr>
                <a:srgbClr val="3B82F6"/>
              </a:buClr>
              <a:buSzPts val="1400"/>
              <a:buFont typeface="Arial"/>
              <a:buChar char="●"/>
            </a:pPr>
            <a:r>
              <a:rPr b="1" i="0" lang="en-US" sz="1400" u="none" cap="none" strike="noStrike">
                <a:solidFill>
                  <a:srgbClr val="F9FAFB"/>
                </a:solidFill>
                <a:latin typeface="Calibri"/>
                <a:ea typeface="Calibri"/>
                <a:cs typeface="Calibri"/>
                <a:sym typeface="Calibri"/>
              </a:rPr>
              <a:t xml:space="preserve">PIN incorrecto 3 veces: </a:t>
            </a:r>
            <a:r>
              <a:rPr b="0" i="0" lang="en-US" sz="14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muestra un error razonable, no rompe la app.</a:t>
            </a:r>
          </a:p>
          <a:p>
            <a:pPr indent="-228600" lvl="0" marL="228600" marR="0" rtl="0" algn="l">
              <a:spcBef>
                <a:spcPts val="0"/>
              </a:spcBef>
              <a:spcAft>
                <a:spcPts val="900"/>
              </a:spcAft>
              <a:buClr>
                <a:srgbClr val="3B82F6"/>
              </a:buClr>
              <a:buSzPts val="1400"/>
              <a:buFont typeface="Arial"/>
              <a:buChar char="●"/>
            </a:pPr>
            <a:r>
              <a:rPr b="1" i="0" lang="en-US" sz="1400" u="none" cap="none" strike="noStrike">
                <a:solidFill>
                  <a:srgbClr val="F9FAFB"/>
                </a:solidFill>
                <a:latin typeface="Calibri"/>
                <a:ea typeface="Calibri"/>
                <a:cs typeface="Calibri"/>
                <a:sym typeface="Calibri"/>
              </a:rPr>
              <a:t xml:space="preserve">“Olvidé mi PIN”: </a:t>
            </a:r>
            <a:r>
              <a:rPr b="0" i="0" lang="en-US" sz="14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permite crear uno nuevo sin perder los pacientes cargados.</a:t>
            </a:r>
          </a:p>
          <a:p>
            <a:pPr indent="-228600" lvl="0" marL="228600" marR="0" rtl="0" algn="l">
              <a:spcBef>
                <a:spcPts val="0"/>
              </a:spcBef>
              <a:spcAft>
                <a:spcPts val="900"/>
              </a:spcAft>
              <a:buClr>
                <a:srgbClr val="3B82F6"/>
              </a:buClr>
              <a:buSzPts val="1400"/>
              <a:buFont typeface="Arial"/>
              <a:buChar char="●"/>
            </a:pPr>
            <a:r>
              <a:rPr b="1" i="0" lang="en-US" sz="1400" u="none" cap="none" strike="noStrike">
                <a:solidFill>
                  <a:srgbClr val="F9FAFB"/>
                </a:solidFill>
                <a:latin typeface="Calibri"/>
                <a:ea typeface="Calibri"/>
                <a:cs typeface="Calibri"/>
                <a:sym typeface="Calibri"/>
              </a:rPr>
              <a:t xml:space="preserve">Cargar nombre/rol en el avatar: </a:t>
            </a:r>
            <a:r>
              <a:rPr b="0" i="0" lang="en-US" sz="14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se guarda y se reflejan las iniciales.</a:t>
            </a: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400"/>
              <a:buFont typeface="Arial"/>
              <a:buChar char="●"/>
            </a:pPr>
            <a:r>
              <a:rPr b="1" i="0" lang="en-US" sz="1400" u="none" cap="none" strike="noStrike">
                <a:solidFill>
                  <a:srgbClr val="F9FAFB"/>
                </a:solidFill>
                <a:latin typeface="Calibri"/>
                <a:ea typeface="Calibri"/>
                <a:cs typeface="Calibri"/>
                <a:sym typeface="Calibri"/>
              </a:rPr>
              <a:t xml:space="preserve">Cerrar sesión (candado) y reentrar: </a:t>
            </a:r>
            <a:r>
              <a:rPr b="0" i="0" lang="en-US" sz="14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pide el PIN de nuevo.</a:t>
            </a:r>
          </a:p>
        </p:txBody>
      </p:sp>
      <p:cxnSp>
        <p:nvCxnSpPr>
          <p:cNvPr id="51" name="Google Shape;51;p4"/>
          <p:cNvCxnSpPr/>
          <p:nvPr/>
        </p:nvCxnSpPr>
        <p:spPr>
          <a:xfrm>
            <a:off x="320040" y="4800600"/>
            <a:ext cx="8503920" cy="0"/>
          </a:xfrm>
          <a:prstGeom prst="straightConnector1">
            <a:avLst/>
          </a:prstGeom>
          <a:noFill/>
          <a:ln cap="flat" cmpd="sng" w="9525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" name="Google Shape;52;p4"/>
          <p:cNvSpPr/>
          <p:nvPr/>
        </p:nvSpPr>
        <p:spPr>
          <a:xfrm>
            <a:off x="320040" y="4846320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NexIA · Intelligence That Works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7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526"/>
          </a:solidFill>
          <a:ln cap="flat" cmpd="sng" w="12700">
            <a:solidFill>
              <a:srgbClr val="0D15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7" name="Google Shape;4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8080" y="91440"/>
            <a:ext cx="1371600" cy="598932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4"/>
          <p:cNvSpPr/>
          <p:nvPr/>
        </p:nvSpPr>
        <p:spPr>
          <a:xfrm>
            <a:off x="320040" y="109728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9FAFB"/>
                </a:solidFill>
                <a:latin typeface="Calibri"/>
                <a:ea typeface="Calibri"/>
                <a:cs typeface="Calibri"/>
                <a:sym typeface="Calibri"/>
              </a:rPr>
              <a:t>2. Pacientes — carga manual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320040" y="658368"/>
            <a:ext cx="2011680" cy="36576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457200" y="868680"/>
            <a:ext cx="822960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900"/>
              </a:spcAft>
              <a:buClr>
                <a:srgbClr val="3B82F6"/>
              </a:buClr>
              <a:buSzPts val="1400"/>
              <a:buFont typeface="Arial"/>
              <a:buChar char="●"/>
            </a:pPr>
            <a:r>
              <a:rPr b="1" i="0" lang="en-US" sz="1400" u="none" cap="none" strike="noStrike">
                <a:solidFill>
                  <a:srgbClr val="F9FAFB"/>
                </a:solidFill>
                <a:latin typeface="Calibri"/>
                <a:ea typeface="Calibri"/>
                <a:cs typeface="Calibri"/>
                <a:sym typeface="Calibri"/>
              </a:rPr>
              <a:t xml:space="preserve">Crear paciente completo a mano: </a:t>
            </a:r>
            <a:r>
              <a:rPr b="0" i="0" lang="en-US" sz="14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aparece en la lista sin campos vacíos ni “Sin nombre”.</a:t>
            </a:r>
          </a:p>
          <a:p>
            <a:pPr indent="-228600" lvl="0" marL="228600" marR="0" rtl="0" algn="l">
              <a:spcBef>
                <a:spcPts val="0"/>
              </a:spcBef>
              <a:spcAft>
                <a:spcPts val="900"/>
              </a:spcAft>
              <a:buClr>
                <a:srgbClr val="3B82F6"/>
              </a:buClr>
              <a:buSzPts val="1400"/>
              <a:buFont typeface="Arial"/>
              <a:buChar char="●"/>
            </a:pPr>
            <a:r>
              <a:rPr b="1" i="0" lang="en-US" sz="1400" u="none" cap="none" strike="noStrike">
                <a:solidFill>
                  <a:srgbClr val="F9FAFB"/>
                </a:solidFill>
                <a:latin typeface="Calibri"/>
                <a:ea typeface="Calibri"/>
                <a:cs typeface="Calibri"/>
                <a:sym typeface="Calibri"/>
              </a:rPr>
              <a:t xml:space="preserve">Buscar por nombre, DNI y obra social: </a:t>
            </a:r>
            <a:r>
              <a:rPr b="0" i="0" lang="en-US" sz="14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aparece en los 3 casos.</a:t>
            </a:r>
          </a:p>
          <a:p>
            <a:pPr indent="-228600" lvl="0" marL="228600" marR="0" rtl="0" algn="l">
              <a:spcBef>
                <a:spcPts val="0"/>
              </a:spcBef>
              <a:spcAft>
                <a:spcPts val="900"/>
              </a:spcAft>
              <a:buClr>
                <a:srgbClr val="3B82F6"/>
              </a:buClr>
              <a:buSzPts val="1400"/>
              <a:buFont typeface="Arial"/>
              <a:buChar char="●"/>
            </a:pPr>
            <a:r>
              <a:rPr b="1" i="0" lang="en-US" sz="1400" u="none" cap="none" strike="noStrike">
                <a:solidFill>
                  <a:srgbClr val="F9FAFB"/>
                </a:solidFill>
                <a:latin typeface="Calibri"/>
                <a:ea typeface="Calibri"/>
                <a:cs typeface="Calibri"/>
                <a:sym typeface="Calibri"/>
              </a:rPr>
              <a:t xml:space="preserve">Filtrar por estado (Activo/Alta): </a:t>
            </a:r>
            <a:r>
              <a:rPr b="0" i="0" lang="en-US" sz="14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la lista se filtra correctamente.</a:t>
            </a:r>
          </a:p>
          <a:p>
            <a:pPr indent="-228600" lvl="0" marL="228600" marR="0" rtl="0" algn="l">
              <a:spcBef>
                <a:spcPts val="0"/>
              </a:spcBef>
              <a:spcAft>
                <a:spcPts val="900"/>
              </a:spcAft>
              <a:buClr>
                <a:srgbClr val="3B82F6"/>
              </a:buClr>
              <a:buSzPts val="1400"/>
              <a:buFont typeface="Arial"/>
              <a:buChar char="●"/>
            </a:pPr>
            <a:r>
              <a:rPr b="1" i="0" lang="en-US" sz="1400" u="none" cap="none" strike="noStrike">
                <a:solidFill>
                  <a:srgbClr val="F9FAFB"/>
                </a:solidFill>
                <a:latin typeface="Calibri"/>
                <a:ea typeface="Calibri"/>
                <a:cs typeface="Calibri"/>
                <a:sym typeface="Calibri"/>
              </a:rPr>
              <a:t xml:space="preserve">Editar un campo y guardar: </a:t>
            </a:r>
            <a:r>
              <a:rPr b="0" i="0" lang="en-US" sz="14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el cambio persiste al cerrar y reabrir la app.</a:t>
            </a:r>
          </a:p>
          <a:p>
            <a:pPr indent="-228600" lvl="0" marL="228600" marR="0" rtl="0" algn="l">
              <a:spcBef>
                <a:spcPts val="0"/>
              </a:spcBef>
              <a:spcAft>
                <a:spcPts val="900"/>
              </a:spcAft>
              <a:buClr>
                <a:srgbClr val="3B82F6"/>
              </a:buClr>
              <a:buSzPts val="1400"/>
              <a:buFont typeface="Arial"/>
              <a:buChar char="●"/>
            </a:pPr>
            <a:r>
              <a:rPr b="1" i="0" lang="en-US" sz="1400" u="none" cap="none" strike="noStrike">
                <a:solidFill>
                  <a:srgbClr val="F9FAFB"/>
                </a:solidFill>
                <a:latin typeface="Calibri"/>
                <a:ea typeface="Calibri"/>
                <a:cs typeface="Calibri"/>
                <a:sym typeface="Calibri"/>
              </a:rPr>
              <a:t xml:space="preserve">Adjuntar un archivo (foto o PDF): </a:t>
            </a:r>
            <a:r>
              <a:rPr b="0" i="0" lang="en-US" sz="14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queda visible en la ficha.</a:t>
            </a: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400"/>
              <a:buFont typeface="Arial"/>
              <a:buChar char="●"/>
            </a:pPr>
            <a:r>
              <a:rPr b="1" i="0" lang="en-US" sz="1400" u="none" cap="none" strike="noStrike">
                <a:solidFill>
                  <a:srgbClr val="F9FAFB"/>
                </a:solidFill>
                <a:latin typeface="Calibri"/>
                <a:ea typeface="Calibri"/>
                <a:cs typeface="Calibri"/>
                <a:sym typeface="Calibri"/>
              </a:rPr>
              <a:t xml:space="preserve">Crear paciente con DNI/nombre duplicado: </a:t>
            </a:r>
            <a:r>
              <a:rPr b="0" i="0" lang="en-US" sz="14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avisa de posible duplicado, con opción de editar o crear igual.</a:t>
            </a:r>
          </a:p>
        </p:txBody>
      </p:sp>
      <p:cxnSp>
        <p:nvCxnSpPr>
          <p:cNvPr id="51" name="Google Shape;51;p4"/>
          <p:cNvCxnSpPr/>
          <p:nvPr/>
        </p:nvCxnSpPr>
        <p:spPr>
          <a:xfrm>
            <a:off x="320040" y="4800600"/>
            <a:ext cx="8503920" cy="0"/>
          </a:xfrm>
          <a:prstGeom prst="straightConnector1">
            <a:avLst/>
          </a:prstGeom>
          <a:noFill/>
          <a:ln cap="flat" cmpd="sng" w="9525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" name="Google Shape;52;p4"/>
          <p:cNvSpPr/>
          <p:nvPr/>
        </p:nvSpPr>
        <p:spPr>
          <a:xfrm>
            <a:off x="320040" y="4846320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NexIA · Intelligence That Works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7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526"/>
          </a:solidFill>
          <a:ln cap="flat" cmpd="sng" w="12700">
            <a:solidFill>
              <a:srgbClr val="0D15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7" name="Google Shape;4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8080" y="91440"/>
            <a:ext cx="1371600" cy="598932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4"/>
          <p:cNvSpPr/>
          <p:nvPr/>
        </p:nvSpPr>
        <p:spPr>
          <a:xfrm>
            <a:off x="320040" y="109728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9FAFB"/>
                </a:solidFill>
                <a:latin typeface="Calibri"/>
                <a:ea typeface="Calibri"/>
                <a:cs typeface="Calibri"/>
                <a:sym typeface="Calibri"/>
              </a:rPr>
              <a:t>3. Voz — Hablar libremente (1/2)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320040" y="658368"/>
            <a:ext cx="2011680" cy="36576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457200" y="868680"/>
            <a:ext cx="822960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900"/>
              </a:spcAft>
              <a:buClr>
                <a:srgbClr val="3B82F6"/>
              </a:buClr>
              <a:buSzPts val="1300"/>
              <a:buFont typeface="Arial"/>
              <a:buChar char="●"/>
            </a:pPr>
            <a:r>
              <a:rPr b="1" i="0" lang="en-US" sz="1300" u="none" cap="none" strike="noStrike">
                <a:solidFill>
                  <a:srgbClr val="F9FAFB"/>
                </a:solidFill>
                <a:latin typeface="Calibri"/>
                <a:ea typeface="Calibri"/>
                <a:cs typeface="Calibri"/>
                <a:sym typeface="Calibri"/>
              </a:rPr>
              <a:t xml:space="preserve">Dictar todo de corrido </a:t>
            </a:r>
            <a:r>
              <a:rPr b="0" i="0" lang="en-US" sz="13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sin nombrar los campos: la mayoría aparece en verde al terminar.</a:t>
            </a:r>
          </a:p>
          <a:p>
            <a:pPr indent="-228600" lvl="0" marL="228600" marR="0" rtl="0" algn="l">
              <a:spcBef>
                <a:spcPts val="0"/>
              </a:spcBef>
              <a:spcAft>
                <a:spcPts val="900"/>
              </a:spcAft>
              <a:buClr>
                <a:srgbClr val="3B82F6"/>
              </a:buClr>
              <a:buSzPts val="1300"/>
              <a:buFont typeface="Arial"/>
              <a:buChar char="●"/>
            </a:pPr>
            <a:r>
              <a:rPr b="1" i="0" lang="en-US" sz="1300" u="none" cap="none" strike="noStrike">
                <a:solidFill>
                  <a:srgbClr val="F9FAFB"/>
                </a:solidFill>
                <a:latin typeface="Calibri"/>
                <a:ea typeface="Calibri"/>
                <a:cs typeface="Calibri"/>
                <a:sym typeface="Calibri"/>
              </a:rPr>
              <a:t xml:space="preserve">Decir el DNI en grupos </a:t>
            </a:r>
            <a:r>
              <a:rPr b="0" i="0" lang="en-US" sz="13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(“cuarenta, ciento veintitrés...”): se arma completo igual.</a:t>
            </a:r>
          </a:p>
          <a:p>
            <a:pPr indent="-228600" lvl="0" marL="228600" marR="0" rtl="0" algn="l">
              <a:spcBef>
                <a:spcPts val="0"/>
              </a:spcBef>
              <a:spcAft>
                <a:spcPts val="900"/>
              </a:spcAft>
              <a:buClr>
                <a:srgbClr val="3B82F6"/>
              </a:buClr>
              <a:buSzPts val="1300"/>
              <a:buFont typeface="Arial"/>
              <a:buChar char="●"/>
            </a:pPr>
            <a:r>
              <a:rPr b="1" i="0" lang="en-US" sz="1300" u="none" cap="none" strike="noStrike">
                <a:solidFill>
                  <a:srgbClr val="F9FAFB"/>
                </a:solidFill>
                <a:latin typeface="Calibri"/>
                <a:ea typeface="Calibri"/>
                <a:cs typeface="Calibri"/>
                <a:sym typeface="Calibri"/>
              </a:rPr>
              <a:t xml:space="preserve">Decir el email deletreado: </a:t>
            </a:r>
            <a:r>
              <a:rPr b="0" i="0" lang="en-US" sz="13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se arma con formato correcto (@ y puntos reales).</a:t>
            </a:r>
          </a:p>
          <a:p>
            <a:pPr indent="-228600" lvl="0" marL="228600" marR="0" rtl="0" algn="l">
              <a:spcBef>
                <a:spcPts val="0"/>
              </a:spcBef>
              <a:spcAft>
                <a:spcPts val="900"/>
              </a:spcAft>
              <a:buClr>
                <a:srgbClr val="3B82F6"/>
              </a:buClr>
              <a:buSzPts val="1300"/>
              <a:buFont typeface="Arial"/>
              <a:buChar char="●"/>
            </a:pPr>
            <a:r>
              <a:rPr b="1" i="0" lang="en-US" sz="1300" u="none" cap="none" strike="noStrike">
                <a:solidFill>
                  <a:srgbClr val="F9FAFB"/>
                </a:solidFill>
                <a:latin typeface="Calibri"/>
                <a:ea typeface="Calibri"/>
                <a:cs typeface="Calibri"/>
                <a:sym typeface="Calibri"/>
              </a:rPr>
              <a:t xml:space="preserve">Nombre del tutor + “teléfono” + número: </a:t>
            </a:r>
            <a:r>
              <a:rPr b="0" i="0" lang="en-US" sz="13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el campo Tutor queda sin la palabra “teléfono”.</a:t>
            </a:r>
          </a:p>
          <a:p>
            <a:pPr indent="-228600" lvl="0" marL="228600" marR="0" rtl="0" algn="l">
              <a:spcBef>
                <a:spcPts val="0"/>
              </a:spcBef>
              <a:spcAft>
                <a:spcPts val="900"/>
              </a:spcAft>
              <a:buClr>
                <a:srgbClr val="3B82F6"/>
              </a:buClr>
              <a:buSzPts val="1300"/>
              <a:buFont typeface="Arial"/>
              <a:buChar char="●"/>
            </a:pPr>
            <a:r>
              <a:rPr b="1" i="0" lang="en-US" sz="1300" u="none" cap="none" strike="noStrike">
                <a:solidFill>
                  <a:srgbClr val="F9FAFB"/>
                </a:solidFill>
                <a:latin typeface="Calibri"/>
                <a:ea typeface="Calibri"/>
                <a:cs typeface="Calibri"/>
                <a:sym typeface="Calibri"/>
              </a:rPr>
              <a:t xml:space="preserve">Terminar diciendo “listo” </a:t>
            </a:r>
            <a:r>
              <a:rPr b="0" i="0" lang="en-US" sz="13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(sin tocar el botón): corta y procesa igual.</a:t>
            </a: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300"/>
              <a:buFont typeface="Arial"/>
              <a:buChar char="●"/>
            </a:pPr>
            <a:r>
              <a:rPr b="1" i="0" lang="en-US" sz="1300" u="none" cap="none" strike="noStrike">
                <a:solidFill>
                  <a:srgbClr val="F9FAFB"/>
                </a:solidFill>
                <a:latin typeface="Calibri"/>
                <a:ea typeface="Calibri"/>
                <a:cs typeface="Calibri"/>
                <a:sym typeface="Calibri"/>
              </a:rPr>
              <a:t xml:space="preserve">Terminar tocando “■ Listo”: </a:t>
            </a:r>
            <a:r>
              <a:rPr b="0" i="0" lang="en-US" sz="13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mismo resultado que decir “listo”.</a:t>
            </a:r>
          </a:p>
        </p:txBody>
      </p:sp>
      <p:cxnSp>
        <p:nvCxnSpPr>
          <p:cNvPr id="51" name="Google Shape;51;p4"/>
          <p:cNvCxnSpPr/>
          <p:nvPr/>
        </p:nvCxnSpPr>
        <p:spPr>
          <a:xfrm>
            <a:off x="320040" y="4800600"/>
            <a:ext cx="8503920" cy="0"/>
          </a:xfrm>
          <a:prstGeom prst="straightConnector1">
            <a:avLst/>
          </a:prstGeom>
          <a:noFill/>
          <a:ln cap="flat" cmpd="sng" w="9525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" name="Google Shape;52;p4"/>
          <p:cNvSpPr/>
          <p:nvPr/>
        </p:nvSpPr>
        <p:spPr>
          <a:xfrm>
            <a:off x="320040" y="4846320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NexIA · Intelligence That Works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7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526"/>
          </a:solidFill>
          <a:ln cap="flat" cmpd="sng" w="12700">
            <a:solidFill>
              <a:srgbClr val="0D15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7" name="Google Shape;4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8080" y="91440"/>
            <a:ext cx="1371600" cy="598932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4"/>
          <p:cNvSpPr/>
          <p:nvPr/>
        </p:nvSpPr>
        <p:spPr>
          <a:xfrm>
            <a:off x="320040" y="109728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9FAFB"/>
                </a:solidFill>
                <a:latin typeface="Calibri"/>
                <a:ea typeface="Calibri"/>
                <a:cs typeface="Calibri"/>
                <a:sym typeface="Calibri"/>
              </a:rPr>
              <a:t>3. Voz — Hablar libremente (2/2)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320040" y="658368"/>
            <a:ext cx="2011680" cy="36576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457200" y="868680"/>
            <a:ext cx="822960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900"/>
              </a:spcAft>
              <a:buClr>
                <a:srgbClr val="3B82F6"/>
              </a:buClr>
              <a:buSzPts val="1300"/>
              <a:buFont typeface="Arial"/>
              <a:buChar char="●"/>
            </a:pPr>
            <a:r>
              <a:rPr b="1" i="0" lang="en-US" sz="1300" u="none" cap="none" strike="noStrike">
                <a:solidFill>
                  <a:srgbClr val="F9FAFB"/>
                </a:solidFill>
                <a:latin typeface="Calibri"/>
                <a:ea typeface="Calibri"/>
                <a:cs typeface="Calibri"/>
                <a:sym typeface="Calibri"/>
              </a:rPr>
              <a:t xml:space="preserve">[Celular] Frase larga de 15-20 seg: </a:t>
            </a:r>
            <a:r>
              <a:rPr b="0" i="0" lang="en-US" sz="13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revisar que ninguna palabra se repita duplicada o triplicada.</a:t>
            </a:r>
          </a:p>
          <a:p>
            <a:pPr indent="-228600" lvl="0" marL="228600" marR="0" rtl="0" algn="l">
              <a:spcBef>
                <a:spcPts val="0"/>
              </a:spcBef>
              <a:spcAft>
                <a:spcPts val="900"/>
              </a:spcAft>
              <a:buClr>
                <a:srgbClr val="3B82F6"/>
              </a:buClr>
              <a:buSzPts val="1300"/>
              <a:buFont typeface="Arial"/>
              <a:buChar char="●"/>
            </a:pPr>
            <a:r>
              <a:rPr b="1" i="0" lang="en-US" sz="1300" u="none" cap="none" strike="noStrike">
                <a:solidFill>
                  <a:srgbClr val="F9FAFB"/>
                </a:solidFill>
                <a:latin typeface="Calibri"/>
                <a:ea typeface="Calibri"/>
                <a:cs typeface="Calibri"/>
                <a:sym typeface="Calibri"/>
              </a:rPr>
              <a:t xml:space="preserve">“Seguir dictando” con un campo faltante: </a:t>
            </a:r>
            <a:r>
              <a:rPr b="0" i="0" lang="en-US" sz="13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los campos ya cargados no se borran ni se pisan.</a:t>
            </a:r>
          </a:p>
          <a:p>
            <a:pPr indent="-228600" lvl="0" marL="228600" marR="0" rtl="0" algn="l">
              <a:spcBef>
                <a:spcPts val="0"/>
              </a:spcBef>
              <a:spcAft>
                <a:spcPts val="900"/>
              </a:spcAft>
              <a:buClr>
                <a:srgbClr val="3B82F6"/>
              </a:buClr>
              <a:buSzPts val="1300"/>
              <a:buFont typeface="Arial"/>
              <a:buChar char="●"/>
            </a:pPr>
            <a:r>
              <a:rPr b="1" i="0" lang="en-US" sz="1300" u="none" cap="none" strike="noStrike">
                <a:solidFill>
                  <a:srgbClr val="F9FAFB"/>
                </a:solidFill>
                <a:latin typeface="Calibri"/>
                <a:ea typeface="Calibri"/>
                <a:cs typeface="Calibri"/>
                <a:sym typeface="Calibri"/>
              </a:rPr>
              <a:t xml:space="preserve">Tocar la ✕ de una chip verde: </a:t>
            </a:r>
            <a:r>
              <a:rPr b="0" i="0" lang="en-US" sz="13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ese campo se vacía, sin afectar los demás.</a:t>
            </a:r>
          </a:p>
          <a:p>
            <a:pPr indent="-228600" lvl="0" marL="228600" marR="0" rtl="0" algn="l">
              <a:spcBef>
                <a:spcPts val="0"/>
              </a:spcBef>
              <a:spcAft>
                <a:spcPts val="900"/>
              </a:spcAft>
              <a:buClr>
                <a:srgbClr val="3B82F6"/>
              </a:buClr>
              <a:buSzPts val="1300"/>
              <a:buFont typeface="Arial"/>
              <a:buChar char="●"/>
            </a:pPr>
            <a:r>
              <a:rPr b="1" i="0" lang="en-US" sz="1300" u="none" cap="none" strike="noStrike">
                <a:solidFill>
                  <a:srgbClr val="F9FAFB"/>
                </a:solidFill>
                <a:latin typeface="Calibri"/>
                <a:ea typeface="Calibri"/>
                <a:cs typeface="Calibri"/>
                <a:sym typeface="Calibri"/>
              </a:rPr>
              <a:t xml:space="preserve">Editar paciente existente por voz </a:t>
            </a:r>
            <a:r>
              <a:rPr b="0" i="0" lang="en-US" sz="13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(un solo dato): se guarda solo ese cambio, el resto queda intacto.</a:t>
            </a: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300"/>
              <a:buFont typeface="Arial"/>
              <a:buChar char="●"/>
            </a:pPr>
            <a:r>
              <a:rPr b="1" i="0" lang="en-US" sz="1300" u="none" cap="none" strike="noStrike">
                <a:solidFill>
                  <a:srgbClr val="F9FAFB"/>
                </a:solidFill>
                <a:latin typeface="Calibri"/>
                <a:ea typeface="Calibri"/>
                <a:cs typeface="Calibri"/>
                <a:sym typeface="Calibri"/>
              </a:rPr>
              <a:t xml:space="preserve">Guardar cambios apenas se dice “listo”: </a:t>
            </a:r>
            <a:r>
              <a:rPr b="0" i="0" lang="en-US" sz="13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avisa “terminando de procesar...” y guarda solo.</a:t>
            </a:r>
          </a:p>
        </p:txBody>
      </p:sp>
      <p:cxnSp>
        <p:nvCxnSpPr>
          <p:cNvPr id="51" name="Google Shape;51;p4"/>
          <p:cNvCxnSpPr/>
          <p:nvPr/>
        </p:nvCxnSpPr>
        <p:spPr>
          <a:xfrm>
            <a:off x="320040" y="4800600"/>
            <a:ext cx="8503920" cy="0"/>
          </a:xfrm>
          <a:prstGeom prst="straightConnector1">
            <a:avLst/>
          </a:prstGeom>
          <a:noFill/>
          <a:ln cap="flat" cmpd="sng" w="9525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" name="Google Shape;52;p4"/>
          <p:cNvSpPr/>
          <p:nvPr/>
        </p:nvSpPr>
        <p:spPr>
          <a:xfrm>
            <a:off x="320040" y="4846320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NexIA · Intelligence That Works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7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526"/>
          </a:solidFill>
          <a:ln cap="flat" cmpd="sng" w="12700">
            <a:solidFill>
              <a:srgbClr val="0D15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7" name="Google Shape;4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8080" y="91440"/>
            <a:ext cx="1371600" cy="598932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4"/>
          <p:cNvSpPr/>
          <p:nvPr/>
        </p:nvSpPr>
        <p:spPr>
          <a:xfrm>
            <a:off x="320040" y="109728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9FAFB"/>
                </a:solidFill>
                <a:latin typeface="Calibri"/>
                <a:ea typeface="Calibri"/>
                <a:cs typeface="Calibri"/>
                <a:sym typeface="Calibri"/>
              </a:rPr>
              <a:t>4. Dictado guiado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320040" y="658368"/>
            <a:ext cx="2011680" cy="36576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457200" y="868680"/>
            <a:ext cx="822960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900"/>
              </a:spcAft>
              <a:buClr>
                <a:srgbClr val="3B82F6"/>
              </a:buClr>
              <a:buSzPts val="1400"/>
              <a:buFont typeface="Arial"/>
              <a:buChar char="●"/>
            </a:pPr>
            <a:r>
              <a:rPr b="1" i="0" lang="en-US" sz="1400" u="none" cap="none" strike="noStrike">
                <a:solidFill>
                  <a:srgbClr val="F9FAFB"/>
                </a:solidFill>
                <a:latin typeface="Calibri"/>
                <a:ea typeface="Calibri"/>
                <a:cs typeface="Calibri"/>
                <a:sym typeface="Calibri"/>
              </a:rPr>
              <a:t xml:space="preserve">Responder las 11 preguntas: </a:t>
            </a:r>
            <a:r>
              <a:rPr b="0" i="0" lang="en-US" sz="14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recorre todos los campos sin saltarse ninguno.</a:t>
            </a:r>
          </a:p>
          <a:p>
            <a:pPr indent="-228600" lvl="0" marL="228600" marR="0" rtl="0" algn="l">
              <a:spcBef>
                <a:spcPts val="0"/>
              </a:spcBef>
              <a:spcAft>
                <a:spcPts val="900"/>
              </a:spcAft>
              <a:buClr>
                <a:srgbClr val="3B82F6"/>
              </a:buClr>
              <a:buSzPts val="1400"/>
              <a:buFont typeface="Arial"/>
              <a:buChar char="●"/>
            </a:pPr>
            <a:r>
              <a:rPr b="1" i="0" lang="en-US" sz="1400" u="none" cap="none" strike="noStrike">
                <a:solidFill>
                  <a:srgbClr val="F9FAFB"/>
                </a:solidFill>
                <a:latin typeface="Calibri"/>
                <a:ea typeface="Calibri"/>
                <a:cs typeface="Calibri"/>
                <a:sym typeface="Calibri"/>
              </a:rPr>
              <a:t xml:space="preserve">Fecha de nacimiento en palabras </a:t>
            </a:r>
            <a:r>
              <a:rPr b="0" i="0" lang="en-US" sz="14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(“quince de marzo de dos mil veintidós”): se carga correctamente.</a:t>
            </a:r>
          </a:p>
          <a:p>
            <a:pPr indent="-228600" lvl="0" marL="228600" marR="0" rtl="0" algn="l">
              <a:spcBef>
                <a:spcPts val="0"/>
              </a:spcBef>
              <a:spcAft>
                <a:spcPts val="900"/>
              </a:spcAft>
              <a:buClr>
                <a:srgbClr val="3B82F6"/>
              </a:buClr>
              <a:buSzPts val="1400"/>
              <a:buFont typeface="Arial"/>
              <a:buChar char="●"/>
            </a:pPr>
            <a:r>
              <a:rPr b="1" i="0" lang="en-US" sz="1400" u="none" cap="none" strike="noStrike">
                <a:solidFill>
                  <a:srgbClr val="F9FAFB"/>
                </a:solidFill>
                <a:latin typeface="Calibri"/>
                <a:ea typeface="Calibri"/>
                <a:cs typeface="Calibri"/>
                <a:sym typeface="Calibri"/>
              </a:rPr>
              <a:t xml:space="preserve">Sexo “masculino” o “femenino”: </a:t>
            </a:r>
            <a:r>
              <a:rPr b="0" i="0" lang="en-US" sz="14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se selecciona la opción correcta.</a:t>
            </a:r>
          </a:p>
          <a:p>
            <a:pPr indent="-228600" lvl="0" marL="228600" marR="0" rtl="0" algn="l">
              <a:spcBef>
                <a:spcPts val="0"/>
              </a:spcBef>
              <a:spcAft>
                <a:spcPts val="900"/>
              </a:spcAft>
              <a:buClr>
                <a:srgbClr val="3B82F6"/>
              </a:buClr>
              <a:buSzPts val="1400"/>
              <a:buFont typeface="Arial"/>
              <a:buChar char="●"/>
            </a:pPr>
            <a:r>
              <a:rPr b="1" i="0" lang="en-US" sz="1400" u="none" cap="none" strike="noStrike">
                <a:solidFill>
                  <a:srgbClr val="F9FAFB"/>
                </a:solidFill>
                <a:latin typeface="Calibri"/>
                <a:ea typeface="Calibri"/>
                <a:cs typeface="Calibri"/>
                <a:sym typeface="Calibri"/>
              </a:rPr>
              <a:t xml:space="preserve">Decir “omitir” </a:t>
            </a:r>
            <a:r>
              <a:rPr b="0" i="0" lang="en-US" sz="14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en cualquier pregunta: salta ese campo y sigue.</a:t>
            </a:r>
          </a:p>
          <a:p>
            <a:pPr indent="-228600" lvl="0" marL="228600" marR="0" rtl="0" algn="l">
              <a:spcBef>
                <a:spcPts val="0"/>
              </a:spcBef>
              <a:spcAft>
                <a:spcPts val="900"/>
              </a:spcAft>
              <a:buClr>
                <a:srgbClr val="3B82F6"/>
              </a:buClr>
              <a:buSzPts val="1400"/>
              <a:buFont typeface="Arial"/>
              <a:buChar char="●"/>
            </a:pPr>
            <a:r>
              <a:rPr b="1" i="0" lang="en-US" sz="1400" u="none" cap="none" strike="noStrike">
                <a:solidFill>
                  <a:srgbClr val="F9FAFB"/>
                </a:solidFill>
                <a:latin typeface="Calibri"/>
                <a:ea typeface="Calibri"/>
                <a:cs typeface="Calibri"/>
                <a:sym typeface="Calibri"/>
              </a:rPr>
              <a:t xml:space="preserve">Silencio prolongado en una pregunta: </a:t>
            </a:r>
            <a:r>
              <a:rPr b="0" i="0" lang="en-US" sz="14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la app sigue sola al siguiente campo, no se traba.</a:t>
            </a: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400"/>
              <a:buFont typeface="Arial"/>
              <a:buChar char="●"/>
            </a:pPr>
            <a:r>
              <a:rPr b="1" i="0" lang="en-US" sz="1400" u="none" cap="none" strike="noStrike">
                <a:solidFill>
                  <a:srgbClr val="F9FAFB"/>
                </a:solidFill>
                <a:latin typeface="Calibri"/>
                <a:ea typeface="Calibri"/>
                <a:cs typeface="Calibri"/>
                <a:sym typeface="Calibri"/>
              </a:rPr>
              <a:t xml:space="preserve">Cancelar el dictado a mitad de camino: </a:t>
            </a:r>
            <a:r>
              <a:rPr b="0" i="0" lang="en-US" sz="14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los campos completados quedan guardados.</a:t>
            </a:r>
          </a:p>
        </p:txBody>
      </p:sp>
      <p:cxnSp>
        <p:nvCxnSpPr>
          <p:cNvPr id="51" name="Google Shape;51;p4"/>
          <p:cNvCxnSpPr/>
          <p:nvPr/>
        </p:nvCxnSpPr>
        <p:spPr>
          <a:xfrm>
            <a:off x="320040" y="4800600"/>
            <a:ext cx="8503920" cy="0"/>
          </a:xfrm>
          <a:prstGeom prst="straightConnector1">
            <a:avLst/>
          </a:prstGeom>
          <a:noFill/>
          <a:ln cap="flat" cmpd="sng" w="9525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" name="Google Shape;52;p4"/>
          <p:cNvSpPr/>
          <p:nvPr/>
        </p:nvSpPr>
        <p:spPr>
          <a:xfrm>
            <a:off x="320040" y="4846320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NexIA · Intelligence That Works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7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526"/>
          </a:solidFill>
          <a:ln cap="flat" cmpd="sng" w="12700">
            <a:solidFill>
              <a:srgbClr val="0D15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7" name="Google Shape;4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8080" y="91440"/>
            <a:ext cx="1371600" cy="598932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4"/>
          <p:cNvSpPr/>
          <p:nvPr/>
        </p:nvSpPr>
        <p:spPr>
          <a:xfrm>
            <a:off x="320040" y="109728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9FAFB"/>
                </a:solidFill>
                <a:latin typeface="Calibri"/>
                <a:ea typeface="Calibri"/>
                <a:cs typeface="Calibri"/>
                <a:sym typeface="Calibri"/>
              </a:rPr>
              <a:t>5. Vacunas · 6. Controles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320040" y="658368"/>
            <a:ext cx="2011680" cy="36576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457200" y="868680"/>
            <a:ext cx="822960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900"/>
              </a:spcAft>
              <a:buClr>
                <a:srgbClr val="3B82F6"/>
              </a:buClr>
              <a:buSzPts val="1300"/>
              <a:buFont typeface="Arial"/>
              <a:buChar char="●"/>
            </a:pPr>
            <a:r>
              <a:rPr b="1" i="0" lang="en-US" sz="1300" u="none" cap="none" strike="noStrike">
                <a:solidFill>
                  <a:srgbClr val="F9FAFB"/>
                </a:solidFill>
                <a:latin typeface="Calibri"/>
                <a:ea typeface="Calibri"/>
                <a:cs typeface="Calibri"/>
                <a:sym typeface="Calibri"/>
              </a:rPr>
              <a:t xml:space="preserve">Elegir un paciente en Vacunas: </a:t>
            </a:r>
            <a:r>
              <a:rPr b="0" i="0" lang="en-US" sz="13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aparecen las vacunas de 2026 con fecha y tiempo restante (o “atrasada”).</a:t>
            </a:r>
          </a:p>
          <a:p>
            <a:pPr indent="-228600" lvl="0" marL="228600" marR="0" rtl="0" algn="l">
              <a:spcBef>
                <a:spcPts val="0"/>
              </a:spcBef>
              <a:spcAft>
                <a:spcPts val="900"/>
              </a:spcAft>
              <a:buClr>
                <a:srgbClr val="3B82F6"/>
              </a:buClr>
              <a:buSzPts val="1300"/>
              <a:buFont typeface="Arial"/>
              <a:buChar char="●"/>
            </a:pPr>
            <a:r>
              <a:rPr b="1" i="0" lang="en-US" sz="1300" u="none" cap="none" strike="noStrike">
                <a:solidFill>
                  <a:srgbClr val="F9FAFB"/>
                </a:solidFill>
                <a:latin typeface="Calibri"/>
                <a:ea typeface="Calibri"/>
                <a:cs typeface="Calibri"/>
                <a:sym typeface="Calibri"/>
              </a:rPr>
              <a:t xml:space="preserve">Paciente sin fecha de nacimiento: </a:t>
            </a:r>
            <a:r>
              <a:rPr b="0" i="0" lang="en-US" sz="13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muestra un aviso claro, no rompe ni da datos incorrectos.</a:t>
            </a:r>
          </a:p>
          <a:p>
            <a:pPr indent="-228600" lvl="0" marL="228600" marR="0" rtl="0" algn="l">
              <a:spcBef>
                <a:spcPts val="0"/>
              </a:spcBef>
              <a:spcAft>
                <a:spcPts val="900"/>
              </a:spcAft>
              <a:buClr>
                <a:srgbClr val="3B82F6"/>
              </a:buClr>
              <a:buSzPts val="1300"/>
              <a:buFont typeface="Arial"/>
              <a:buChar char="●"/>
            </a:pPr>
            <a:r>
              <a:rPr b="1" i="0" lang="en-US" sz="1300" u="none" cap="none" strike="noStrike">
                <a:solidFill>
                  <a:srgbClr val="F9FAFB"/>
                </a:solidFill>
                <a:latin typeface="Calibri"/>
                <a:ea typeface="Calibri"/>
                <a:cs typeface="Calibri"/>
                <a:sym typeface="Calibri"/>
              </a:rPr>
              <a:t xml:space="preserve">Lista general de “Vacunas pendientes”: </a:t>
            </a:r>
            <a:r>
              <a:rPr b="0" i="0" lang="en-US" sz="13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coincide con lo cargado manualmente en esa tabla.</a:t>
            </a:r>
          </a:p>
          <a:p>
            <a:pPr indent="-228600" lvl="0" marL="228600" marR="0" rtl="0" algn="l">
              <a:spcBef>
                <a:spcPts val="0"/>
              </a:spcBef>
              <a:spcAft>
                <a:spcPts val="900"/>
              </a:spcAft>
              <a:buClr>
                <a:srgbClr val="3B82F6"/>
              </a:buClr>
              <a:buSzPts val="1300"/>
              <a:buFont typeface="Arial"/>
              <a:buChar char="●"/>
            </a:pPr>
            <a:r>
              <a:rPr b="1" i="0" lang="en-US" sz="1300" u="none" cap="none" strike="noStrike">
                <a:solidFill>
                  <a:srgbClr val="F9FAFB"/>
                </a:solidFill>
                <a:latin typeface="Calibri"/>
                <a:ea typeface="Calibri"/>
                <a:cs typeface="Calibri"/>
                <a:sym typeface="Calibri"/>
              </a:rPr>
              <a:t xml:space="preserve">Controles de un recién nacido: </a:t>
            </a:r>
            <a:r>
              <a:rPr b="0" i="0" lang="en-US" sz="13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muestra los controles a los 7/14/30 días y los mensuales.</a:t>
            </a: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300"/>
              <a:buFont typeface="Arial"/>
              <a:buChar char="●"/>
            </a:pPr>
            <a:r>
              <a:rPr b="1" i="0" lang="en-US" sz="1300" u="none" cap="none" strike="noStrike">
                <a:solidFill>
                  <a:srgbClr val="F9FAFB"/>
                </a:solidFill>
                <a:latin typeface="Calibri"/>
                <a:ea typeface="Calibri"/>
                <a:cs typeface="Calibri"/>
                <a:sym typeface="Calibri"/>
              </a:rPr>
              <a:t xml:space="preserve">Controles de un paciente de más de 4 años: </a:t>
            </a:r>
            <a:r>
              <a:rPr b="0" i="0" lang="en-US" sz="13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muestra controles anuales, no mensuales.</a:t>
            </a:r>
          </a:p>
        </p:txBody>
      </p:sp>
      <p:cxnSp>
        <p:nvCxnSpPr>
          <p:cNvPr id="51" name="Google Shape;51;p4"/>
          <p:cNvCxnSpPr/>
          <p:nvPr/>
        </p:nvCxnSpPr>
        <p:spPr>
          <a:xfrm>
            <a:off x="320040" y="4800600"/>
            <a:ext cx="8503920" cy="0"/>
          </a:xfrm>
          <a:prstGeom prst="straightConnector1">
            <a:avLst/>
          </a:prstGeom>
          <a:noFill/>
          <a:ln cap="flat" cmpd="sng" w="9525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" name="Google Shape;52;p4"/>
          <p:cNvSpPr/>
          <p:nvPr/>
        </p:nvSpPr>
        <p:spPr>
          <a:xfrm>
            <a:off x="320040" y="4846320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NexIA · Intelligence That Works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7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526"/>
          </a:solidFill>
          <a:ln cap="flat" cmpd="sng" w="12700">
            <a:solidFill>
              <a:srgbClr val="0D15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7" name="Google Shape;4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8080" y="91440"/>
            <a:ext cx="1371600" cy="598932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4"/>
          <p:cNvSpPr/>
          <p:nvPr/>
        </p:nvSpPr>
        <p:spPr>
          <a:xfrm>
            <a:off x="320040" y="109728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9FAFB"/>
                </a:solidFill>
                <a:latin typeface="Calibri"/>
                <a:ea typeface="Calibri"/>
                <a:cs typeface="Calibri"/>
                <a:sym typeface="Calibri"/>
              </a:rPr>
              <a:t>7. Calendario · 9. Mi perfil y ayuda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320040" y="658368"/>
            <a:ext cx="2011680" cy="36576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457200" y="868680"/>
            <a:ext cx="822960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900"/>
              </a:spcAft>
              <a:buClr>
                <a:srgbClr val="3B82F6"/>
              </a:buClr>
              <a:buSzPts val="1400"/>
              <a:buFont typeface="Arial"/>
              <a:buChar char="●"/>
            </a:pPr>
            <a:r>
              <a:rPr b="1" i="0" lang="en-US" sz="1400" u="none" cap="none" strike="noStrike">
                <a:solidFill>
                  <a:srgbClr val="F9FAFB"/>
                </a:solidFill>
                <a:latin typeface="Calibri"/>
                <a:ea typeface="Calibri"/>
                <a:cs typeface="Calibri"/>
                <a:sym typeface="Calibri"/>
              </a:rPr>
              <a:t xml:space="preserve">Solapa “Calendario”: </a:t>
            </a:r>
            <a:r>
              <a:rPr b="0" i="0" lang="en-US" sz="14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se ve la tabla completa del Calendario Nacional 2026, con la fuente citada.</a:t>
            </a:r>
          </a:p>
          <a:p>
            <a:pPr indent="-228600" lvl="0" marL="228600" marR="0" rtl="0" algn="l">
              <a:spcBef>
                <a:spcPts val="0"/>
              </a:spcBef>
              <a:spcAft>
                <a:spcPts val="900"/>
              </a:spcAft>
              <a:buClr>
                <a:srgbClr val="3B82F6"/>
              </a:buClr>
              <a:buSzPts val="1400"/>
              <a:buFont typeface="Arial"/>
              <a:buChar char="●"/>
            </a:pPr>
            <a:r>
              <a:rPr b="1" i="0" lang="en-US" sz="1400" u="none" cap="none" strike="noStrike">
                <a:solidFill>
                  <a:srgbClr val="F9FAFB"/>
                </a:solidFill>
                <a:latin typeface="Calibri"/>
                <a:ea typeface="Calibri"/>
                <a:cs typeface="Calibri"/>
                <a:sym typeface="Calibri"/>
              </a:rPr>
              <a:t xml:space="preserve">Tocar el link de la fuente: </a:t>
            </a:r>
            <a:r>
              <a:rPr b="0" i="0" lang="en-US" sz="14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abre la página oficial del Ministerio de Salud en pestaña nueva.</a:t>
            </a:r>
          </a:p>
          <a:p>
            <a:pPr indent="-228600" lvl="0" marL="228600" marR="0" rtl="0" algn="l">
              <a:spcBef>
                <a:spcPts val="0"/>
              </a:spcBef>
              <a:spcAft>
                <a:spcPts val="900"/>
              </a:spcAft>
              <a:buClr>
                <a:srgbClr val="3B82F6"/>
              </a:buClr>
              <a:buSzPts val="1400"/>
              <a:buFont typeface="Arial"/>
              <a:buChar char="●"/>
            </a:pPr>
            <a:r>
              <a:rPr b="1" i="0" lang="en-US" sz="1400" u="none" cap="none" strike="noStrike">
                <a:solidFill>
                  <a:srgbClr val="F9FAFB"/>
                </a:solidFill>
                <a:latin typeface="Calibri"/>
                <a:ea typeface="Calibri"/>
                <a:cs typeface="Calibri"/>
                <a:sym typeface="Calibri"/>
              </a:rPr>
              <a:t xml:space="preserve">Entrar a “Mi perfil”: </a:t>
            </a:r>
            <a:r>
              <a:rPr b="0" i="0" lang="en-US" sz="14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el desplegable de Rol solo muestra Médico y Administrativo.</a:t>
            </a: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400"/>
              <a:buFont typeface="Arial"/>
              <a:buChar char="●"/>
            </a:pPr>
            <a:r>
              <a:rPr b="1" i="0" lang="en-US" sz="1400" u="none" cap="none" strike="noStrike">
                <a:solidFill>
                  <a:srgbClr val="F9FAFB"/>
                </a:solidFill>
                <a:latin typeface="Calibri"/>
                <a:ea typeface="Calibri"/>
                <a:cs typeface="Calibri"/>
                <a:sym typeface="Calibri"/>
              </a:rPr>
              <a:t xml:space="preserve">Tocar el ícono de ayuda (“¿Cómo funciona PediConsult?”): </a:t>
            </a:r>
            <a:r>
              <a:rPr b="0" i="0" lang="en-US" sz="14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describe las funciones reales, en lenguaje simple.</a:t>
            </a:r>
          </a:p>
        </p:txBody>
      </p:sp>
      <p:cxnSp>
        <p:nvCxnSpPr>
          <p:cNvPr id="51" name="Google Shape;51;p4"/>
          <p:cNvCxnSpPr/>
          <p:nvPr/>
        </p:nvCxnSpPr>
        <p:spPr>
          <a:xfrm>
            <a:off x="320040" y="4800600"/>
            <a:ext cx="8503920" cy="0"/>
          </a:xfrm>
          <a:prstGeom prst="straightConnector1">
            <a:avLst/>
          </a:prstGeom>
          <a:noFill/>
          <a:ln cap="flat" cmpd="sng" w="9525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" name="Google Shape;52;p4"/>
          <p:cNvSpPr/>
          <p:nvPr/>
        </p:nvSpPr>
        <p:spPr>
          <a:xfrm>
            <a:off x="320040" y="4846320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NexIA · Intelligence That Works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7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526"/>
          </a:solidFill>
          <a:ln cap="flat" cmpd="sng" w="12700">
            <a:solidFill>
              <a:srgbClr val="0D15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7" name="Google Shape;4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8080" y="91440"/>
            <a:ext cx="1371600" cy="598932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4"/>
          <p:cNvSpPr/>
          <p:nvPr/>
        </p:nvSpPr>
        <p:spPr>
          <a:xfrm>
            <a:off x="320040" y="109728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9FAFB"/>
                </a:solidFill>
                <a:latin typeface="Calibri"/>
                <a:ea typeface="Calibri"/>
                <a:cs typeface="Calibri"/>
                <a:sym typeface="Calibri"/>
              </a:rPr>
              <a:t>8. Instalación y uso sin conexión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320040" y="658368"/>
            <a:ext cx="2011680" cy="36576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457200" y="868680"/>
            <a:ext cx="822960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900"/>
              </a:spcAft>
              <a:buClr>
                <a:srgbClr val="3B82F6"/>
              </a:buClr>
              <a:buSzPts val="1400"/>
              <a:buFont typeface="Arial"/>
              <a:buChar char="●"/>
            </a:pPr>
            <a:r>
              <a:rPr b="1" i="0" lang="en-US" sz="1400" u="none" cap="none" strike="noStrike">
                <a:solidFill>
                  <a:srgbClr val="F9FAFB"/>
                </a:solidFill>
                <a:latin typeface="Calibri"/>
                <a:ea typeface="Calibri"/>
                <a:cs typeface="Calibri"/>
                <a:sym typeface="Calibri"/>
              </a:rPr>
              <a:t xml:space="preserve">Agregar la app a la pantalla de inicio: </a:t>
            </a:r>
            <a:r>
              <a:rPr b="0" i="0" lang="en-US" sz="14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queda un ícono como cualquier app instalada.</a:t>
            </a:r>
          </a:p>
          <a:p>
            <a:pPr indent="-228600" lvl="0" marL="228600" marR="0" rtl="0" algn="l">
              <a:spcBef>
                <a:spcPts val="0"/>
              </a:spcBef>
              <a:spcAft>
                <a:spcPts val="900"/>
              </a:spcAft>
              <a:buClr>
                <a:srgbClr val="3B82F6"/>
              </a:buClr>
              <a:buSzPts val="1400"/>
              <a:buFont typeface="Arial"/>
              <a:buChar char="●"/>
            </a:pPr>
            <a:r>
              <a:rPr b="1" i="0" lang="en-US" sz="1400" u="none" cap="none" strike="noStrike">
                <a:solidFill>
                  <a:srgbClr val="F9FAFB"/>
                </a:solidFill>
                <a:latin typeface="Calibri"/>
                <a:ea typeface="Calibri"/>
                <a:cs typeface="Calibri"/>
                <a:sym typeface="Calibri"/>
              </a:rPr>
              <a:t xml:space="preserve">Activar modo avión y navegar entre pantallas: </a:t>
            </a:r>
            <a:r>
              <a:rPr b="0" i="0" lang="en-US" sz="14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sigue mostrando los últimos datos, sin pantalla en blanco.</a:t>
            </a:r>
          </a:p>
          <a:p>
            <a:pPr indent="-228600" lvl="0" marL="228600" marR="0" rtl="0" algn="l">
              <a:spcBef>
                <a:spcPts val="0"/>
              </a:spcBef>
              <a:spcAft>
                <a:spcPts val="900"/>
              </a:spcAft>
              <a:buClr>
                <a:srgbClr val="3B82F6"/>
              </a:buClr>
              <a:buSzPts val="1400"/>
              <a:buFont typeface="Arial"/>
              <a:buChar char="●"/>
            </a:pPr>
            <a:r>
              <a:rPr b="1" i="0" lang="en-US" sz="1400" u="none" cap="none" strike="noStrike">
                <a:solidFill>
                  <a:srgbClr val="F9FAFB"/>
                </a:solidFill>
                <a:latin typeface="Calibri"/>
                <a:ea typeface="Calibri"/>
                <a:cs typeface="Calibri"/>
                <a:sym typeface="Calibri"/>
              </a:rPr>
              <a:t xml:space="preserve">Desactivar el modo avión: </a:t>
            </a:r>
            <a:r>
              <a:rPr b="0" i="0" lang="en-US" sz="14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la app se sincroniza sola con los datos más recientes.</a:t>
            </a: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400"/>
              <a:buFont typeface="Arial"/>
              <a:buChar char="●"/>
            </a:pPr>
            <a:r>
              <a:rPr b="1" i="0" lang="en-US" sz="1400" u="none" cap="none" strike="noStrike">
                <a:solidFill>
                  <a:srgbClr val="F9FAFB"/>
                </a:solidFill>
                <a:latin typeface="Calibri"/>
                <a:ea typeface="Calibri"/>
                <a:cs typeface="Calibri"/>
                <a:sym typeface="Calibri"/>
              </a:rPr>
              <a:t xml:space="preserve">Si se ve la app “vieja” o faltan funciones: </a:t>
            </a:r>
            <a:r>
              <a:rPr b="0" i="0" lang="en-US" sz="14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probar Ctrl+Shift+R antes de reportarlo como bug.</a:t>
            </a:r>
          </a:p>
        </p:txBody>
      </p:sp>
      <p:cxnSp>
        <p:nvCxnSpPr>
          <p:cNvPr id="51" name="Google Shape;51;p4"/>
          <p:cNvCxnSpPr/>
          <p:nvPr/>
        </p:nvCxnSpPr>
        <p:spPr>
          <a:xfrm>
            <a:off x="320040" y="4800600"/>
            <a:ext cx="8503920" cy="0"/>
          </a:xfrm>
          <a:prstGeom prst="straightConnector1">
            <a:avLst/>
          </a:prstGeom>
          <a:noFill/>
          <a:ln cap="flat" cmpd="sng" w="9525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" name="Google Shape;52;p4"/>
          <p:cNvSpPr/>
          <p:nvPr/>
        </p:nvSpPr>
        <p:spPr>
          <a:xfrm>
            <a:off x="320040" y="4846320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NexIA · Intelligence That Works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7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526"/>
          </a:solidFill>
          <a:ln cap="flat" cmpd="sng" w="12700">
            <a:solidFill>
              <a:srgbClr val="0D15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7" name="Google Shape;4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8080" y="91440"/>
            <a:ext cx="1371600" cy="598932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4"/>
          <p:cNvSpPr/>
          <p:nvPr/>
        </p:nvSpPr>
        <p:spPr>
          <a:xfrm>
            <a:off x="320040" y="109728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9FAFB"/>
                </a:solidFill>
                <a:latin typeface="Calibri"/>
                <a:ea typeface="Calibri"/>
                <a:cs typeface="Calibri"/>
                <a:sym typeface="Calibri"/>
              </a:rPr>
              <a:t>Template de reporte de bug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320040" y="658368"/>
            <a:ext cx="2011680" cy="36576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457200" y="868680"/>
            <a:ext cx="822960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900"/>
              </a:spcAft>
              <a:buClr>
                <a:srgbClr val="3B82F6"/>
              </a:buClr>
              <a:buSzPts val="1300"/>
              <a:buFont typeface="Arial"/>
              <a:buChar char="●"/>
            </a:pPr>
            <a:r>
              <a:rPr b="1" i="0" lang="en-US" sz="1300" u="none" cap="none" strike="noStrike">
                <a:solidFill>
                  <a:srgbClr val="F9FAFB"/>
                </a:solidFill>
                <a:latin typeface="Calibri"/>
                <a:ea typeface="Calibri"/>
                <a:cs typeface="Calibri"/>
                <a:sym typeface="Calibri"/>
              </a:rPr>
              <a:t>Fecha</a:t>
            </a:r>
            <a:r>
              <a:rPr b="0" i="0" lang="en-US" sz="13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indent="-228600" lvl="0" marL="228600" marR="0" rtl="0" algn="l">
              <a:spcBef>
                <a:spcPts val="0"/>
              </a:spcBef>
              <a:spcAft>
                <a:spcPts val="900"/>
              </a:spcAft>
              <a:buClr>
                <a:srgbClr val="3B82F6"/>
              </a:buClr>
              <a:buSzPts val="1300"/>
              <a:buFont typeface="Arial"/>
              <a:buChar char="●"/>
            </a:pPr>
            <a:r>
              <a:rPr b="1" i="0" lang="en-US" sz="1300" u="none" cap="none" strike="noStrike">
                <a:solidFill>
                  <a:srgbClr val="F9FAFB"/>
                </a:solidFill>
                <a:latin typeface="Calibri"/>
                <a:ea typeface="Calibri"/>
                <a:cs typeface="Calibri"/>
                <a:sym typeface="Calibri"/>
              </a:rPr>
              <a:t xml:space="preserve">Dispositivo y navegador </a:t>
            </a:r>
            <a:r>
              <a:rPr b="0" i="0" lang="en-US" sz="13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(ej. iPhone 13, Safari / Notebook Windows, Chrome)</a:t>
            </a:r>
          </a:p>
          <a:p>
            <a:pPr indent="-228600" lvl="0" marL="228600" marR="0" rtl="0" algn="l">
              <a:spcBef>
                <a:spcPts val="0"/>
              </a:spcBef>
              <a:spcAft>
                <a:spcPts val="900"/>
              </a:spcAft>
              <a:buClr>
                <a:srgbClr val="3B82F6"/>
              </a:buClr>
              <a:buSzPts val="1300"/>
              <a:buFont typeface="Arial"/>
              <a:buChar char="●"/>
            </a:pPr>
            <a:r>
              <a:rPr b="1" i="0" lang="en-US" sz="1300" u="none" cap="none" strike="noStrike">
                <a:solidFill>
                  <a:srgbClr val="F9FAFB"/>
                </a:solidFill>
                <a:latin typeface="Calibri"/>
                <a:ea typeface="Calibri"/>
                <a:cs typeface="Calibri"/>
                <a:sym typeface="Calibri"/>
              </a:rPr>
              <a:t xml:space="preserve">Pantalla/función </a:t>
            </a:r>
            <a:r>
              <a:rPr b="0" i="0" lang="en-US" sz="13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(ej. Hablar libremente, Vacunas, Editar paciente)</a:t>
            </a:r>
          </a:p>
          <a:p>
            <a:pPr indent="-228600" lvl="0" marL="228600" marR="0" rtl="0" algn="l">
              <a:spcBef>
                <a:spcPts val="0"/>
              </a:spcBef>
              <a:spcAft>
                <a:spcPts val="900"/>
              </a:spcAft>
              <a:buClr>
                <a:srgbClr val="3B82F6"/>
              </a:buClr>
              <a:buSzPts val="1300"/>
              <a:buFont typeface="Arial"/>
              <a:buChar char="●"/>
            </a:pPr>
            <a:r>
              <a:rPr b="1" i="0" lang="en-US" sz="1300" u="none" cap="none" strike="noStrike">
                <a:solidFill>
                  <a:srgbClr val="F9FAFB"/>
                </a:solidFill>
                <a:latin typeface="Calibri"/>
                <a:ea typeface="Calibri"/>
                <a:cs typeface="Calibri"/>
                <a:sym typeface="Calibri"/>
              </a:rPr>
              <a:t xml:space="preserve">Pasos para reproducirlo </a:t>
            </a:r>
            <a:r>
              <a:rPr b="0" i="0" lang="en-US" sz="13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(1, 2, 3...)</a:t>
            </a:r>
          </a:p>
          <a:p>
            <a:pPr indent="-228600" lvl="0" marL="228600" marR="0" rtl="0" algn="l">
              <a:spcBef>
                <a:spcPts val="0"/>
              </a:spcBef>
              <a:spcAft>
                <a:spcPts val="900"/>
              </a:spcAft>
              <a:buClr>
                <a:srgbClr val="3B82F6"/>
              </a:buClr>
              <a:buSzPts val="1300"/>
              <a:buFont typeface="Arial"/>
              <a:buChar char="●"/>
            </a:pPr>
            <a:r>
              <a:rPr b="1" i="0" lang="en-US" sz="1300" u="none" cap="none" strike="noStrike">
                <a:solidFill>
                  <a:srgbClr val="F9FAFB"/>
                </a:solidFill>
                <a:latin typeface="Calibri"/>
                <a:ea typeface="Calibri"/>
                <a:cs typeface="Calibri"/>
                <a:sym typeface="Calibri"/>
              </a:rPr>
              <a:t>Qué esperabas que pasara / Qué pasó en realidad</a:t>
            </a:r>
            <a:r>
              <a:rPr b="0" i="0" lang="en-US" sz="13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indent="-228600" lvl="0" marL="228600" marR="0" rtl="0" algn="l">
              <a:spcBef>
                <a:spcPts val="0"/>
              </a:spcBef>
              <a:spcAft>
                <a:spcPts val="900"/>
              </a:spcAft>
              <a:buClr>
                <a:srgbClr val="3B82F6"/>
              </a:buClr>
              <a:buSzPts val="1300"/>
              <a:buFont typeface="Arial"/>
              <a:buChar char="●"/>
            </a:pPr>
            <a:r>
              <a:rPr b="1" i="0" lang="en-US" sz="1300" u="none" cap="none" strike="noStrike">
                <a:solidFill>
                  <a:srgbClr val="F9FAFB"/>
                </a:solidFill>
                <a:latin typeface="Calibri"/>
                <a:ea typeface="Calibri"/>
                <a:cs typeface="Calibri"/>
                <a:sym typeface="Calibri"/>
              </a:rPr>
              <a:t>¿Se repite siempre o solo a veces?</a:t>
            </a:r>
            <a:r>
              <a:rPr b="0" i="0" lang="en-US" sz="13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300"/>
              <a:buFont typeface="Arial"/>
              <a:buChar char="●"/>
            </a:pPr>
            <a:r>
              <a:rPr b="1" i="0" lang="en-US" sz="1300" u="none" cap="none" strike="noStrike">
                <a:solidFill>
                  <a:srgbClr val="F9FAFB"/>
                </a:solidFill>
                <a:latin typeface="Calibri"/>
                <a:ea typeface="Calibri"/>
                <a:cs typeface="Calibri"/>
                <a:sym typeface="Calibri"/>
              </a:rPr>
              <a:t xml:space="preserve">Captura de pantalla o grabación </a:t>
            </a:r>
            <a:r>
              <a:rPr b="0" i="0" lang="en-US" sz="13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(si se puede)</a:t>
            </a:r>
          </a:p>
        </p:txBody>
      </p:sp>
      <p:cxnSp>
        <p:nvCxnSpPr>
          <p:cNvPr id="51" name="Google Shape;51;p4"/>
          <p:cNvCxnSpPr/>
          <p:nvPr/>
        </p:nvCxnSpPr>
        <p:spPr>
          <a:xfrm>
            <a:off x="320040" y="4800600"/>
            <a:ext cx="8503920" cy="0"/>
          </a:xfrm>
          <a:prstGeom prst="straightConnector1">
            <a:avLst/>
          </a:prstGeom>
          <a:noFill/>
          <a:ln cap="flat" cmpd="sng" w="9525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" name="Google Shape;52;p4"/>
          <p:cNvSpPr/>
          <p:nvPr/>
        </p:nvSpPr>
        <p:spPr>
          <a:xfrm>
            <a:off x="320040" y="4846320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NexIA · Intelligence That Works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7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526"/>
          </a:solidFill>
          <a:ln cap="flat" cmpd="sng" w="12700">
            <a:solidFill>
              <a:srgbClr val="0D15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7" name="Google Shape;4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8080" y="91440"/>
            <a:ext cx="1371600" cy="598932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4"/>
          <p:cNvSpPr/>
          <p:nvPr/>
        </p:nvSpPr>
        <p:spPr>
          <a:xfrm>
            <a:off x="320040" y="109728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9FAFB"/>
                </a:solidFill>
                <a:latin typeface="Calibri"/>
                <a:ea typeface="Calibri"/>
                <a:cs typeface="Calibri"/>
                <a:sym typeface="Calibri"/>
              </a:rPr>
              <a:t>Registro de la sesión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320040" y="658368"/>
            <a:ext cx="2011680" cy="36576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457200" y="868680"/>
            <a:ext cx="822960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900"/>
              </a:spcAft>
              <a:buClr>
                <a:srgbClr val="3B82F6"/>
              </a:buClr>
              <a:buSzPts val="1400"/>
              <a:buFont typeface="Arial"/>
              <a:buChar char="●"/>
            </a:pPr>
            <a:r>
              <a:rPr b="1" i="0" lang="en-US" sz="1400" u="none" cap="none" strike="noStrike">
                <a:solidFill>
                  <a:srgbClr val="F9FAFB"/>
                </a:solidFill>
                <a:latin typeface="Calibri"/>
                <a:ea typeface="Calibri"/>
                <a:cs typeface="Calibri"/>
                <a:sym typeface="Calibri"/>
              </a:rPr>
              <a:t>Fecha de la sesión</a:t>
            </a:r>
            <a:r>
              <a:rPr b="0" i="0" lang="en-US" sz="14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indent="-228600" lvl="0" marL="228600" marR="0" rtl="0" algn="l">
              <a:spcBef>
                <a:spcPts val="0"/>
              </a:spcBef>
              <a:spcAft>
                <a:spcPts val="900"/>
              </a:spcAft>
              <a:buClr>
                <a:srgbClr val="3B82F6"/>
              </a:buClr>
              <a:buSzPts val="1400"/>
              <a:buFont typeface="Arial"/>
              <a:buChar char="●"/>
            </a:pPr>
            <a:r>
              <a:rPr b="1" i="0" lang="en-US" sz="1400" u="none" cap="none" strike="noStrike">
                <a:solidFill>
                  <a:srgbClr val="F9FAFB"/>
                </a:solidFill>
                <a:latin typeface="Calibri"/>
                <a:ea typeface="Calibri"/>
                <a:cs typeface="Calibri"/>
                <a:sym typeface="Calibri"/>
              </a:rPr>
              <a:t>Quién probó</a:t>
            </a:r>
            <a:r>
              <a:rPr b="0" i="0" lang="en-US" sz="14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indent="-228600" lvl="0" marL="228600" marR="0" rtl="0" algn="l">
              <a:spcBef>
                <a:spcPts val="0"/>
              </a:spcBef>
              <a:spcAft>
                <a:spcPts val="900"/>
              </a:spcAft>
              <a:buClr>
                <a:srgbClr val="3B82F6"/>
              </a:buClr>
              <a:buSzPts val="1400"/>
              <a:buFont typeface="Arial"/>
              <a:buChar char="●"/>
            </a:pPr>
            <a:r>
              <a:rPr b="1" i="0" lang="en-US" sz="1400" u="none" cap="none" strike="noStrike">
                <a:solidFill>
                  <a:srgbClr val="F9FAFB"/>
                </a:solidFill>
                <a:latin typeface="Calibri"/>
                <a:ea typeface="Calibri"/>
                <a:cs typeface="Calibri"/>
                <a:sym typeface="Calibri"/>
              </a:rPr>
              <a:t>Dispositivos usados</a:t>
            </a:r>
            <a:r>
              <a:rPr b="0" i="0" lang="en-US" sz="14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indent="-228600" lvl="0" marL="228600" marR="0" rtl="0" algn="l">
              <a:spcBef>
                <a:spcPts val="0"/>
              </a:spcBef>
              <a:spcAft>
                <a:spcPts val="900"/>
              </a:spcAft>
              <a:buClr>
                <a:srgbClr val="3B82F6"/>
              </a:buClr>
              <a:buSzPts val="1400"/>
              <a:buFont typeface="Arial"/>
              <a:buChar char="●"/>
            </a:pPr>
            <a:r>
              <a:rPr b="1" i="0" lang="en-US" sz="1400" u="none" cap="none" strike="noStrike">
                <a:solidFill>
                  <a:srgbClr val="F9FAFB"/>
                </a:solidFill>
                <a:latin typeface="Calibri"/>
                <a:ea typeface="Calibri"/>
                <a:cs typeface="Calibri"/>
                <a:sym typeface="Calibri"/>
              </a:rPr>
              <a:t>Duración</a:t>
            </a:r>
            <a:r>
              <a:rPr b="0" i="0" lang="en-US" sz="14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indent="-228600" lvl="0" marL="228600" marR="0" rtl="0" algn="l">
              <a:spcBef>
                <a:spcPts val="0"/>
              </a:spcBef>
              <a:spcAft>
                <a:spcPts val="900"/>
              </a:spcAft>
              <a:buClr>
                <a:srgbClr val="3B82F6"/>
              </a:buClr>
              <a:buSzPts val="1400"/>
              <a:buFont typeface="Arial"/>
              <a:buChar char="●"/>
            </a:pPr>
            <a:r>
              <a:rPr b="1" i="0" lang="en-US" sz="1400" u="none" cap="none" strike="noStrike">
                <a:solidFill>
                  <a:srgbClr val="F9FAFB"/>
                </a:solidFill>
                <a:latin typeface="Calibri"/>
                <a:ea typeface="Calibri"/>
                <a:cs typeface="Calibri"/>
                <a:sym typeface="Calibri"/>
              </a:rPr>
              <a:t>Cantidad de bugs encontrados</a:t>
            </a:r>
            <a:r>
              <a:rPr b="0" i="0" lang="en-US" sz="14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400"/>
              <a:buFont typeface="Arial"/>
              <a:buChar char="●"/>
            </a:pPr>
            <a:r>
              <a:rPr b="1" i="0" lang="en-US" sz="1400" u="none" cap="none" strike="noStrike">
                <a:solidFill>
                  <a:srgbClr val="F9FAFB"/>
                </a:solidFill>
                <a:latin typeface="Calibri"/>
                <a:ea typeface="Calibri"/>
                <a:cs typeface="Calibri"/>
                <a:sym typeface="Calibri"/>
              </a:rPr>
              <a:t xml:space="preserve">Observaciones generales </a:t>
            </a:r>
            <a:r>
              <a:rPr b="0" i="0" lang="en-US" sz="14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de experiencia de uso: qué se sintió lento, confuso, o que no cerraba con lo esperado.</a:t>
            </a:r>
          </a:p>
        </p:txBody>
      </p:sp>
      <p:cxnSp>
        <p:nvCxnSpPr>
          <p:cNvPr id="51" name="Google Shape;51;p4"/>
          <p:cNvCxnSpPr/>
          <p:nvPr/>
        </p:nvCxnSpPr>
        <p:spPr>
          <a:xfrm>
            <a:off x="320040" y="4800600"/>
            <a:ext cx="8503920" cy="0"/>
          </a:xfrm>
          <a:prstGeom prst="straightConnector1">
            <a:avLst/>
          </a:prstGeom>
          <a:noFill/>
          <a:ln cap="flat" cmpd="sng" w="9525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" name="Google Shape;52;p4"/>
          <p:cNvSpPr/>
          <p:nvPr/>
        </p:nvSpPr>
        <p:spPr>
          <a:xfrm>
            <a:off x="320040" y="4846320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NexIA · Intelligence That Works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