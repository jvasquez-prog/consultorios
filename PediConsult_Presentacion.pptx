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965960"/>
            <a:ext cx="1219169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 i="0">
                <a:solidFill>
                  <a:srgbClr val="2DD4BF"/>
                </a:solidFill>
                <a:latin typeface="Calibri"/>
              </a:rPr>
              <a:t>PEDICONSULT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2468880"/>
            <a:ext cx="12191695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4400" b="1" i="0">
                <a:solidFill>
                  <a:srgbClr val="FFFFFF"/>
                </a:solidFill>
                <a:latin typeface="Calibri"/>
              </a:rPr>
              <a:t>El consultorio pediátrico,</a:t>
            </a:r>
          </a:p>
          <a:p>
            <a:pPr algn="ctr">
              <a:lnSpc>
                <a:spcPct val="115000"/>
              </a:lnSpc>
            </a:pPr>
            <a:r>
              <a:rPr sz="4400" b="1" i="0">
                <a:solidFill>
                  <a:srgbClr val="FFFFFF"/>
                </a:solidFill>
                <a:latin typeface="Calibri"/>
              </a:rPr>
              <a:t>organizado sin esfuerzo</a:t>
            </a:r>
          </a:p>
        </p:txBody>
      </p:sp>
      <p:sp>
        <p:nvSpPr>
          <p:cNvPr id="5" name="Rectangle 4"/>
          <p:cNvSpPr/>
          <p:nvPr/>
        </p:nvSpPr>
        <p:spPr>
          <a:xfrm>
            <a:off x="5181904" y="4160520"/>
            <a:ext cx="1828800" cy="4572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4434840"/>
            <a:ext cx="1219169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0" i="0">
                <a:solidFill>
                  <a:srgbClr val="A0AEC7"/>
                </a:solidFill>
                <a:latin typeface="Calibri"/>
              </a:rPr>
              <a:t>Pacientes, vacunas y controles — cargados hablando, disponibles en todo momento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6309360"/>
            <a:ext cx="1219169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>
                <a:solidFill>
                  <a:srgbClr val="A0AEC7"/>
                </a:solidFill>
                <a:latin typeface="Calibri"/>
              </a:rPr>
              <a:t>Consultorios Pediátricos Particulares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2DD4BF"/>
                </a:solidFill>
                <a:latin typeface="Calibri"/>
              </a:rPr>
              <a:t>EL DÍA A DÍA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Cargar datos a mano te saca tiempo del paciente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08760"/>
            <a:ext cx="1005840" cy="41148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011680"/>
            <a:ext cx="102412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</a:pPr>
            <a:r>
              <a:rPr sz="1900" b="1">
                <a:solidFill>
                  <a:srgbClr val="2DD4BF"/>
                </a:solidFill>
              </a:rPr>
              <a:t>●  </a:t>
            </a:r>
            <a:r>
              <a:rPr sz="1900" b="1">
                <a:solidFill>
                  <a:srgbClr val="2DD4BF"/>
                </a:solidFill>
              </a:rPr>
              <a:t>Fichas en papel o Excel </a:t>
            </a:r>
            <a:r>
              <a:rPr sz="1900">
                <a:solidFill>
                  <a:srgbClr val="FFFFFF"/>
                </a:solidFill>
              </a:rPr>
              <a:t>que nadie más puede consultar ni buscar rápido.</a:t>
            </a:r>
          </a:p>
          <a:p>
            <a:pPr>
              <a:spcAft>
                <a:spcPts val="2000"/>
              </a:spcAft>
            </a:pPr>
            <a:r>
              <a:rPr sz="1900" b="1">
                <a:solidFill>
                  <a:srgbClr val="2DD4BF"/>
                </a:solidFill>
              </a:rPr>
              <a:t>●  </a:t>
            </a:r>
            <a:r>
              <a:rPr sz="1900" b="1">
                <a:solidFill>
                  <a:srgbClr val="2DD4BF"/>
                </a:solidFill>
              </a:rPr>
              <a:t>Vacunas y controles </a:t>
            </a:r>
            <a:r>
              <a:rPr sz="1900">
                <a:solidFill>
                  <a:srgbClr val="FFFFFF"/>
                </a:solidFill>
              </a:rPr>
              <a:t>que hay que recordar de memoria, sin un sistema que avise.</a:t>
            </a:r>
          </a:p>
          <a:p>
            <a:pPr>
              <a:spcAft>
                <a:spcPts val="2000"/>
              </a:spcAft>
            </a:pPr>
            <a:r>
              <a:rPr sz="1900" b="1">
                <a:solidFill>
                  <a:srgbClr val="2DD4BF"/>
                </a:solidFill>
              </a:rPr>
              <a:t>●  </a:t>
            </a:r>
            <a:r>
              <a:rPr sz="1900" b="1">
                <a:solidFill>
                  <a:srgbClr val="2DD4BF"/>
                </a:solidFill>
              </a:rPr>
              <a:t>Tipear cada dato </a:t>
            </a:r>
            <a:r>
              <a:rPr sz="1900">
                <a:solidFill>
                  <a:srgbClr val="FFFFFF"/>
                </a:solidFill>
              </a:rPr>
              <a:t>de cada paciente, consulta tras consulta.</a:t>
            </a:r>
          </a:p>
          <a:p>
            <a:pPr>
              <a:spcAft>
                <a:spcPts val="2000"/>
              </a:spcAft>
            </a:pPr>
            <a:r>
              <a:rPr sz="1900" b="1">
                <a:solidFill>
                  <a:srgbClr val="2DD4BF"/>
                </a:solidFill>
              </a:rPr>
              <a:t>●  </a:t>
            </a:r>
            <a:r>
              <a:rPr sz="1900" b="1">
                <a:solidFill>
                  <a:srgbClr val="2DD4BF"/>
                </a:solidFill>
              </a:rPr>
              <a:t>Información dispersa </a:t>
            </a:r>
            <a:r>
              <a:rPr sz="1900">
                <a:solidFill>
                  <a:srgbClr val="FFFFFF"/>
                </a:solidFill>
              </a:rPr>
              <a:t>entre distintos cuadernos, planillas o dispositivos.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A0AEC7"/>
                </a:solidFill>
                <a:latin typeface="Calibri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4652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A0AEC7"/>
                </a:solidFill>
                <a:latin typeface="Calibri"/>
              </a:rPr>
              <a:t>PediConsult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2DD4BF"/>
                </a:solidFill>
                <a:latin typeface="Calibri"/>
              </a:rPr>
              <a:t>LA SOLUCIÓN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Una sola app para todo el consultorio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08760"/>
            <a:ext cx="1005840" cy="41148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103120"/>
            <a:ext cx="2514600" cy="3566160"/>
          </a:xfrm>
          <a:prstGeom prst="rect">
            <a:avLst/>
          </a:prstGeom>
          <a:solidFill>
            <a:srgbClr val="16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377440"/>
            <a:ext cx="2514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0" i="0">
                <a:solidFill>
                  <a:srgbClr val="FFFFFF"/>
                </a:solidFill>
                <a:latin typeface="Calibri"/>
              </a:rPr>
              <a:t>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246120"/>
            <a:ext cx="2240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Pacientes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3794760"/>
            <a:ext cx="21488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 i="0">
                <a:solidFill>
                  <a:srgbClr val="A0AEC7"/>
                </a:solidFill>
                <a:latin typeface="Calibri"/>
              </a:rPr>
              <a:t>Ficha completa de cada paciente, siempre a mano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0" y="2103120"/>
            <a:ext cx="2514600" cy="3566160"/>
          </a:xfrm>
          <a:prstGeom prst="rect">
            <a:avLst/>
          </a:prstGeom>
          <a:solidFill>
            <a:srgbClr val="16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2377440"/>
            <a:ext cx="2514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0" i="0">
                <a:solidFill>
                  <a:srgbClr val="FFFFFF"/>
                </a:solidFill>
                <a:latin typeface="Calibri"/>
              </a:rPr>
              <a:t>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3246120"/>
            <a:ext cx="2240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Voz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3794760"/>
            <a:ext cx="21488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 i="0">
                <a:solidFill>
                  <a:srgbClr val="A0AEC7"/>
                </a:solidFill>
                <a:latin typeface="Calibri"/>
              </a:rPr>
              <a:t>Cargá datos hablando, sin tipear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2103120"/>
            <a:ext cx="2514600" cy="3566160"/>
          </a:xfrm>
          <a:prstGeom prst="rect">
            <a:avLst/>
          </a:prstGeom>
          <a:solidFill>
            <a:srgbClr val="16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0" y="2377440"/>
            <a:ext cx="2514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0" i="0">
                <a:solidFill>
                  <a:srgbClr val="FFFFFF"/>
                </a:solidFill>
                <a:latin typeface="Calibri"/>
              </a:rPr>
              <a:t>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3246120"/>
            <a:ext cx="2240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Vacunas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3794760"/>
            <a:ext cx="21488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 i="0">
                <a:solidFill>
                  <a:srgbClr val="A0AEC7"/>
                </a:solidFill>
                <a:latin typeface="Calibri"/>
              </a:rPr>
              <a:t>Calendario oficial 2026 aplicado a cada paciente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869680" y="2103120"/>
            <a:ext cx="2514600" cy="3566160"/>
          </a:xfrm>
          <a:prstGeom prst="rect">
            <a:avLst/>
          </a:prstGeom>
          <a:solidFill>
            <a:srgbClr val="16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69680" y="2377440"/>
            <a:ext cx="2514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0" i="0">
                <a:solidFill>
                  <a:srgbClr val="FFFFFF"/>
                </a:solidFill>
                <a:latin typeface="Calibri"/>
              </a:rPr>
              <a:t>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06840" y="3246120"/>
            <a:ext cx="2240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Controles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59" y="3794760"/>
            <a:ext cx="21488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 i="0">
                <a:solidFill>
                  <a:srgbClr val="A0AEC7"/>
                </a:solidFill>
                <a:latin typeface="Calibri"/>
              </a:rPr>
              <a:t>Recordatorios según la edad de cada chico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A0AEC7"/>
                </a:solidFill>
                <a:latin typeface="Calibri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44652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A0AEC7"/>
                </a:solidFill>
                <a:latin typeface="Calibri"/>
              </a:rPr>
              <a:t>PediConsult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2DD4BF"/>
                </a:solidFill>
                <a:latin typeface="Calibri"/>
              </a:rPr>
              <a:t>FUNCIONALIDAD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👤  La ficha completa de cada paciente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08760"/>
            <a:ext cx="1005840" cy="41148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104241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700" b="1">
                <a:solidFill>
                  <a:srgbClr val="2DD4BF"/>
                </a:solidFill>
              </a:rPr>
              <a:t>●  </a:t>
            </a:r>
            <a:r>
              <a:rPr sz="1700" b="1">
                <a:solidFill>
                  <a:srgbClr val="2DD4BF"/>
                </a:solidFill>
              </a:rPr>
              <a:t>Datos personales, </a:t>
            </a:r>
            <a:r>
              <a:rPr sz="1700">
                <a:solidFill>
                  <a:srgbClr val="FFFFFF"/>
                </a:solidFill>
              </a:rPr>
              <a:t>DNI, fecha de nacimiento, sexo, domicilio y obra social.</a:t>
            </a:r>
          </a:p>
          <a:p>
            <a:pPr>
              <a:spcAft>
                <a:spcPts val="1600"/>
              </a:spcAft>
            </a:pPr>
            <a:r>
              <a:rPr sz="1700" b="1">
                <a:solidFill>
                  <a:srgbClr val="2DD4BF"/>
                </a:solidFill>
              </a:rPr>
              <a:t>●  </a:t>
            </a:r>
            <a:r>
              <a:rPr sz="1700" b="1">
                <a:solidFill>
                  <a:srgbClr val="2DD4BF"/>
                </a:solidFill>
              </a:rPr>
              <a:t>Padre, madre o tutor </a:t>
            </a:r>
            <a:r>
              <a:rPr sz="1700">
                <a:solidFill>
                  <a:srgbClr val="FFFFFF"/>
                </a:solidFill>
              </a:rPr>
              <a:t>con teléfono y email de contacto.</a:t>
            </a:r>
          </a:p>
          <a:p>
            <a:pPr>
              <a:spcAft>
                <a:spcPts val="1600"/>
              </a:spcAft>
            </a:pPr>
            <a:r>
              <a:rPr sz="1700" b="1">
                <a:solidFill>
                  <a:srgbClr val="2DD4BF"/>
                </a:solidFill>
              </a:rPr>
              <a:t>●  </a:t>
            </a:r>
            <a:r>
              <a:rPr sz="1700" b="1">
                <a:solidFill>
                  <a:srgbClr val="2DD4BF"/>
                </a:solidFill>
              </a:rPr>
              <a:t>Diagnóstico, antecedentes y notas clínicas </a:t>
            </a:r>
            <a:r>
              <a:rPr sz="1700">
                <a:solidFill>
                  <a:srgbClr val="FFFFFF"/>
                </a:solidFill>
              </a:rPr>
              <a:t>de cada paciente.</a:t>
            </a:r>
          </a:p>
          <a:p>
            <a:pPr>
              <a:spcAft>
                <a:spcPts val="1600"/>
              </a:spcAft>
            </a:pPr>
            <a:r>
              <a:rPr sz="1700" b="1">
                <a:solidFill>
                  <a:srgbClr val="2DD4BF"/>
                </a:solidFill>
              </a:rPr>
              <a:t>●  </a:t>
            </a:r>
            <a:r>
              <a:rPr sz="1700" b="1">
                <a:solidFill>
                  <a:srgbClr val="2DD4BF"/>
                </a:solidFill>
              </a:rPr>
              <a:t>Archivos adjuntos: </a:t>
            </a:r>
            <a:r>
              <a:rPr sz="1700">
                <a:solidFill>
                  <a:srgbClr val="FFFFFF"/>
                </a:solidFill>
              </a:rPr>
              <a:t>estudios, análisis o cualquier documento, directamente en la ficha.</a:t>
            </a:r>
          </a:p>
          <a:p>
            <a:pPr>
              <a:spcAft>
                <a:spcPts val="1600"/>
              </a:spcAft>
            </a:pPr>
            <a:r>
              <a:rPr sz="1700" b="1">
                <a:solidFill>
                  <a:srgbClr val="2DD4BF"/>
                </a:solidFill>
              </a:rPr>
              <a:t>●  </a:t>
            </a:r>
            <a:r>
              <a:rPr sz="1700" b="1">
                <a:solidFill>
                  <a:srgbClr val="2DD4BF"/>
                </a:solidFill>
              </a:rPr>
              <a:t>Búsqueda instantánea </a:t>
            </a:r>
            <a:r>
              <a:rPr sz="1700">
                <a:solidFill>
                  <a:srgbClr val="FFFFFF"/>
                </a:solidFill>
              </a:rPr>
              <a:t>por nombre, DNI u obra social, y filtro por estado (activo / alta).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A0AEC7"/>
                </a:solidFill>
                <a:latin typeface="Calibri"/>
              </a:rP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4652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A0AEC7"/>
                </a:solidFill>
                <a:latin typeface="Calibri"/>
              </a:rPr>
              <a:t>PediConsult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2DD4BF"/>
                </a:solidFill>
                <a:latin typeface="Calibri"/>
              </a:rPr>
              <a:t>EL DIFERENCIAL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🎤  Cargá pacientes hablando, no tipeando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08760"/>
            <a:ext cx="1005840" cy="41148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965960"/>
            <a:ext cx="5212080" cy="3977639"/>
          </a:xfrm>
          <a:prstGeom prst="rect">
            <a:avLst/>
          </a:prstGeom>
          <a:solidFill>
            <a:srgbClr val="16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4663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 i="0">
                <a:solidFill>
                  <a:srgbClr val="2DD4BF"/>
                </a:solidFill>
                <a:latin typeface="Calibri"/>
              </a:rPr>
              <a:t>🗣️  Hablar libremente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97480"/>
            <a:ext cx="466344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A0AEC7"/>
                </a:solidFill>
                <a:latin typeface="Calibri"/>
              </a:rPr>
              <a:t>Decís todos los datos del paciente de corrido, como si se lo contaras a otra persona. La app reconoce cada dato solo y lo va confirmando en verde a medida que lo detecta.</a:t>
            </a:r>
          </a:p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A0AEC7"/>
                </a:solidFill>
                <a:latin typeface="Calibr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A0AEC7"/>
                </a:solidFill>
                <a:latin typeface="Calibri"/>
              </a:rPr>
              <a:t>Si falta algo, seguís dictando o lo completás a mano.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1965960"/>
            <a:ext cx="5212080" cy="3977639"/>
          </a:xfrm>
          <a:prstGeom prst="rect">
            <a:avLst/>
          </a:prstGeom>
          <a:solidFill>
            <a:srgbClr val="16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194560"/>
            <a:ext cx="4663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 i="0">
                <a:solidFill>
                  <a:srgbClr val="2DD4BF"/>
                </a:solidFill>
                <a:latin typeface="Calibri"/>
              </a:rPr>
              <a:t>📋  Dictado guiado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697480"/>
            <a:ext cx="466344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A0AEC7"/>
                </a:solidFill>
                <a:latin typeface="Calibri"/>
              </a:rPr>
              <a:t>La app te pregunta campo por campo (nombre, DNI, sexo, fecha de nacimiento, obra social, tutor, diagnóstico...) y vos respondés de a uno.</a:t>
            </a:r>
          </a:p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A0AEC7"/>
                </a:solidFill>
                <a:latin typeface="Calibr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A0AEC7"/>
                </a:solidFill>
                <a:latin typeface="Calibri"/>
              </a:rPr>
              <a:t>Más lento, pero más ordenado y sin dejar nada sin completar.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A0AEC7"/>
                </a:solidFill>
                <a:latin typeface="Calibri"/>
              </a:rPr>
              <a:t>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4652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A0AEC7"/>
                </a:solidFill>
                <a:latin typeface="Calibri"/>
              </a:rPr>
              <a:t>PediConsult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2DD4BF"/>
                </a:solidFill>
                <a:latin typeface="Calibri"/>
              </a:rPr>
              <a:t>VACUNAS · PARTE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🗓️  Calendario Nacional de Vacunación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08760"/>
            <a:ext cx="1005840" cy="41148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03120"/>
            <a:ext cx="102412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1800" b="1">
                <a:solidFill>
                  <a:srgbClr val="2DD4BF"/>
                </a:solidFill>
              </a:rPr>
              <a:t>●  </a:t>
            </a:r>
            <a:r>
              <a:rPr sz="1800" b="1">
                <a:solidFill>
                  <a:srgbClr val="2DD4BF"/>
                </a:solidFill>
              </a:rPr>
              <a:t>Tabla oficial completa </a:t>
            </a:r>
            <a:r>
              <a:rPr sz="1800">
                <a:solidFill>
                  <a:srgbClr val="FFFFFF"/>
                </a:solidFill>
              </a:rPr>
              <a:t>del Ministerio de Salud de la Nación, dentro de la app.</a:t>
            </a:r>
          </a:p>
          <a:p>
            <a:pPr>
              <a:spcAft>
                <a:spcPts val="1800"/>
              </a:spcAft>
            </a:pPr>
            <a:r>
              <a:rPr sz="1800" b="1">
                <a:solidFill>
                  <a:srgbClr val="2DD4BF"/>
                </a:solidFill>
              </a:rPr>
              <a:t>●  </a:t>
            </a:r>
            <a:r>
              <a:rPr sz="1800" b="1">
                <a:solidFill>
                  <a:srgbClr val="2DD4BF"/>
                </a:solidFill>
              </a:rPr>
              <a:t>Sin buscar en papeles ni páginas externas </a:t>
            </a:r>
            <a:r>
              <a:rPr sz="1800">
                <a:solidFill>
                  <a:srgbClr val="FFFFFF"/>
                </a:solidFill>
              </a:rPr>
              <a:t>para confirmar una duda puntual sobre una vacuna.</a:t>
            </a:r>
          </a:p>
          <a:p>
            <a:pPr>
              <a:spcAft>
                <a:spcPts val="1800"/>
              </a:spcAft>
            </a:pPr>
            <a:r>
              <a:rPr sz="1800" b="1">
                <a:solidFill>
                  <a:srgbClr val="2DD4BF"/>
                </a:solidFill>
              </a:rPr>
              <a:t>●  </a:t>
            </a:r>
            <a:r>
              <a:rPr sz="1800" b="1">
                <a:solidFill>
                  <a:srgbClr val="2DD4BF"/>
                </a:solidFill>
              </a:rPr>
              <a:t>Siempre actualizado </a:t>
            </a:r>
            <a:r>
              <a:rPr sz="1800">
                <a:solidFill>
                  <a:srgbClr val="FFFFFF"/>
                </a:solidFill>
              </a:rPr>
              <a:t>a la última versión vigente del calendario.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A0AEC7"/>
                </a:solidFill>
                <a:latin typeface="Calibri"/>
              </a:rP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4652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A0AEC7"/>
                </a:solidFill>
                <a:latin typeface="Calibri"/>
              </a:rPr>
              <a:t>PediConsult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2DD4BF"/>
                </a:solidFill>
                <a:latin typeface="Calibri"/>
              </a:rPr>
              <a:t>VACUNAS · PARTE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💉  Nunca más una vacuna atrasada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08760"/>
            <a:ext cx="1005840" cy="41148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011680"/>
            <a:ext cx="104241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1800" b="1">
                <a:solidFill>
                  <a:srgbClr val="2DD4BF"/>
                </a:solidFill>
              </a:rPr>
              <a:t>●  </a:t>
            </a:r>
            <a:r>
              <a:rPr sz="1800" b="1">
                <a:solidFill>
                  <a:srgbClr val="2DD4BF"/>
                </a:solidFill>
              </a:rPr>
              <a:t>Elegís un paciente </a:t>
            </a:r>
            <a:r>
              <a:rPr sz="1800">
                <a:solidFill>
                  <a:srgbClr val="FFFFFF"/>
                </a:solidFill>
              </a:rPr>
              <a:t>y la app calcula sola, según su fecha de nacimiento, qué vacunas le corresponden este año.</a:t>
            </a:r>
          </a:p>
          <a:p>
            <a:pPr>
              <a:spcAft>
                <a:spcPts val="1800"/>
              </a:spcAft>
            </a:pPr>
            <a:r>
              <a:rPr sz="1800" b="1">
                <a:solidFill>
                  <a:srgbClr val="2DD4BF"/>
                </a:solidFill>
              </a:rPr>
              <a:t>●  </a:t>
            </a:r>
            <a:r>
              <a:rPr sz="1800" b="1">
                <a:solidFill>
                  <a:srgbClr val="2DD4BF"/>
                </a:solidFill>
              </a:rPr>
              <a:t>Fecha exacta estipulada </a:t>
            </a:r>
            <a:r>
              <a:rPr sz="1800">
                <a:solidFill>
                  <a:srgbClr val="FFFFFF"/>
                </a:solidFill>
              </a:rPr>
              <a:t>para cada dosis, calculada automáticamente.</a:t>
            </a:r>
          </a:p>
          <a:p>
            <a:pPr>
              <a:spcAft>
                <a:spcPts val="1800"/>
              </a:spcAft>
            </a:pPr>
            <a:r>
              <a:rPr sz="1800" b="1">
                <a:solidFill>
                  <a:srgbClr val="2DD4BF"/>
                </a:solidFill>
              </a:rPr>
              <a:t>●  </a:t>
            </a:r>
            <a:r>
              <a:rPr sz="1800" b="1">
                <a:solidFill>
                  <a:srgbClr val="2DD4BF"/>
                </a:solidFill>
              </a:rPr>
              <a:t>Tiempo restante a simple vista: </a:t>
            </a:r>
            <a:r>
              <a:rPr sz="1800">
                <a:solidFill>
                  <a:srgbClr val="FFFFFF"/>
                </a:solidFill>
              </a:rPr>
              <a:t>"faltan 13 días" o "atrasada 78 días", sin tener que calcular nada.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A0AEC7"/>
                </a:solidFill>
                <a:latin typeface="Calibri"/>
              </a:rPr>
              <a:t>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4652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A0AEC7"/>
                </a:solidFill>
                <a:latin typeface="Calibri"/>
              </a:rPr>
              <a:t>PediConsult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2DD4BF"/>
                </a:solidFill>
                <a:latin typeface="Calibri"/>
              </a:rPr>
              <a:t>FUNCIONALIDAD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📅  Controles médicos, sin memorizar la regla de edad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08760"/>
            <a:ext cx="1005840" cy="41148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58521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700" b="1">
                <a:solidFill>
                  <a:srgbClr val="2DD4BF"/>
                </a:solidFill>
              </a:rPr>
              <a:t>●  </a:t>
            </a:r>
            <a:r>
              <a:rPr sz="1700" b="1">
                <a:solidFill>
                  <a:srgbClr val="2DD4BF"/>
                </a:solidFill>
              </a:rPr>
              <a:t>Recién nacido: </a:t>
            </a:r>
            <a:r>
              <a:rPr sz="1700">
                <a:solidFill>
                  <a:srgbClr val="FFFFFF"/>
                </a:solidFill>
              </a:rPr>
              <a:t>a los 7, 14 y 30 días.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2DD4BF"/>
                </a:solidFill>
              </a:rPr>
              <a:t>●  </a:t>
            </a:r>
            <a:r>
              <a:rPr sz="1700" b="1">
                <a:solidFill>
                  <a:srgbClr val="2DD4BF"/>
                </a:solidFill>
              </a:rPr>
              <a:t>0 a 1 año: </a:t>
            </a:r>
            <a:r>
              <a:rPr sz="1700">
                <a:solidFill>
                  <a:srgbClr val="FFFFFF"/>
                </a:solidFill>
              </a:rPr>
              <a:t>control mensual.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2DD4BF"/>
                </a:solidFill>
              </a:rPr>
              <a:t>●  </a:t>
            </a:r>
            <a:r>
              <a:rPr sz="1700" b="1">
                <a:solidFill>
                  <a:srgbClr val="2DD4BF"/>
                </a:solidFill>
              </a:rPr>
              <a:t>1 a 2 años: </a:t>
            </a:r>
            <a:r>
              <a:rPr sz="1700">
                <a:solidFill>
                  <a:srgbClr val="FFFFFF"/>
                </a:solidFill>
              </a:rPr>
              <a:t>cada 3 meses.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2DD4BF"/>
                </a:solidFill>
              </a:rPr>
              <a:t>●  </a:t>
            </a:r>
            <a:r>
              <a:rPr sz="1700" b="1">
                <a:solidFill>
                  <a:srgbClr val="2DD4BF"/>
                </a:solidFill>
              </a:rPr>
              <a:t>2 a 4 años: </a:t>
            </a:r>
            <a:r>
              <a:rPr sz="1700">
                <a:solidFill>
                  <a:srgbClr val="FFFFFF"/>
                </a:solidFill>
              </a:rPr>
              <a:t>cada 6 meses.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2DD4BF"/>
                </a:solidFill>
              </a:rPr>
              <a:t>●  </a:t>
            </a:r>
            <a:r>
              <a:rPr sz="1700" b="1">
                <a:solidFill>
                  <a:srgbClr val="2DD4BF"/>
                </a:solidFill>
              </a:rPr>
              <a:t>Más de 4 años: </a:t>
            </a:r>
            <a:r>
              <a:rPr sz="1700">
                <a:solidFill>
                  <a:srgbClr val="FFFFFF"/>
                </a:solidFill>
              </a:rPr>
              <a:t>un control por año.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0" y="1965960"/>
            <a:ext cx="4206240" cy="3840480"/>
          </a:xfrm>
          <a:prstGeom prst="rect">
            <a:avLst/>
          </a:prstGeom>
          <a:solidFill>
            <a:srgbClr val="16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60920" y="2240280"/>
            <a:ext cx="3749039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 i="0">
                <a:solidFill>
                  <a:srgbClr val="2DD4BF"/>
                </a:solidFill>
                <a:latin typeface="Calibri"/>
              </a:rPr>
              <a:t>Todo calculado</a:t>
            </a:r>
          </a:p>
          <a:p>
            <a:pPr algn="l">
              <a:lnSpc>
                <a:spcPct val="110000"/>
              </a:lnSpc>
            </a:pPr>
            <a:r>
              <a:rPr sz="1800" b="1" i="0">
                <a:solidFill>
                  <a:srgbClr val="2DD4BF"/>
                </a:solidFill>
                <a:latin typeface="Calibri"/>
              </a:rPr>
              <a:t>automáticamente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60920" y="3200400"/>
            <a:ext cx="3749039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A0AEC7"/>
                </a:solidFill>
                <a:latin typeface="Calibri"/>
              </a:rPr>
              <a:t>Elegís un paciente y la app te muestra los próximos controles según su edad exacta, con fecha y tiempo restante — igual que con las vacunas.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A0AEC7"/>
                </a:solidFill>
                <a:latin typeface="Calibri"/>
              </a:rPr>
              <a:t>08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4652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A0AEC7"/>
                </a:solidFill>
                <a:latin typeface="Calibri"/>
              </a:rPr>
              <a:t>PediConsult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2DD4BF"/>
                </a:solidFill>
                <a:latin typeface="Calibri"/>
              </a:rPr>
              <a:t>ACCESIBILIDAD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📱  Funciona en cualquier lado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08760"/>
            <a:ext cx="1005840" cy="41148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011680"/>
            <a:ext cx="102412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1800" b="1">
                <a:solidFill>
                  <a:srgbClr val="2DD4BF"/>
                </a:solidFill>
              </a:rPr>
              <a:t>●  </a:t>
            </a:r>
            <a:r>
              <a:rPr sz="1800" b="1">
                <a:solidFill>
                  <a:srgbClr val="2DD4BF"/>
                </a:solidFill>
              </a:rPr>
              <a:t>Se instala como una app </a:t>
            </a:r>
            <a:r>
              <a:rPr sz="1800">
                <a:solidFill>
                  <a:srgbClr val="FFFFFF"/>
                </a:solidFill>
              </a:rPr>
              <a:t>en el celular, sin pasar por ninguna tienda de aplicaciones.</a:t>
            </a:r>
          </a:p>
          <a:p>
            <a:pPr>
              <a:spcAft>
                <a:spcPts val="1800"/>
              </a:spcAft>
            </a:pPr>
            <a:r>
              <a:rPr sz="1800" b="1">
                <a:solidFill>
                  <a:srgbClr val="2DD4BF"/>
                </a:solidFill>
              </a:rPr>
              <a:t>●  </a:t>
            </a:r>
            <a:r>
              <a:rPr sz="1800" b="1">
                <a:solidFill>
                  <a:srgbClr val="2DD4BF"/>
                </a:solidFill>
              </a:rPr>
              <a:t>Funciona sin conexión: </a:t>
            </a:r>
            <a:r>
              <a:rPr sz="1800">
                <a:solidFill>
                  <a:srgbClr val="FFFFFF"/>
                </a:solidFill>
              </a:rPr>
              <a:t>si se corta el wifi o los datos, la app sigue mostrando lo último cargado.</a:t>
            </a:r>
          </a:p>
          <a:p>
            <a:pPr>
              <a:spcAft>
                <a:spcPts val="1800"/>
              </a:spcAft>
            </a:pPr>
            <a:r>
              <a:rPr sz="1800" b="1">
                <a:solidFill>
                  <a:srgbClr val="2DD4BF"/>
                </a:solidFill>
              </a:rPr>
              <a:t>●  </a:t>
            </a:r>
            <a:r>
              <a:rPr sz="1800" b="1">
                <a:solidFill>
                  <a:srgbClr val="2DD4BF"/>
                </a:solidFill>
              </a:rPr>
              <a:t>Se sincroniza sola </a:t>
            </a:r>
            <a:r>
              <a:rPr sz="1800">
                <a:solidFill>
                  <a:srgbClr val="FFFFFF"/>
                </a:solidFill>
              </a:rPr>
              <a:t>apenas vuelve la conexión.</a:t>
            </a:r>
          </a:p>
          <a:p>
            <a:pPr>
              <a:spcAft>
                <a:spcPts val="1800"/>
              </a:spcAft>
            </a:pPr>
            <a:r>
              <a:rPr sz="1800" b="1">
                <a:solidFill>
                  <a:srgbClr val="2DD4BF"/>
                </a:solidFill>
              </a:rPr>
              <a:t>●  </a:t>
            </a:r>
            <a:r>
              <a:rPr sz="1800" b="1">
                <a:solidFill>
                  <a:srgbClr val="2DD4BF"/>
                </a:solidFill>
              </a:rPr>
              <a:t>Misma app en celular, tablet o computadora, </a:t>
            </a:r>
            <a:r>
              <a:rPr sz="1800">
                <a:solidFill>
                  <a:srgbClr val="FFFFFF"/>
                </a:solidFill>
              </a:rPr>
              <a:t>sin instalar nada especial en la compu.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A0AEC7"/>
                </a:solidFill>
                <a:latin typeface="Calibri"/>
              </a:rPr>
              <a:t>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4652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A0AEC7"/>
                </a:solidFill>
                <a:latin typeface="Calibri"/>
              </a:rPr>
              <a:t>PediConsult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2DD4BF"/>
                </a:solidFill>
                <a:latin typeface="Calibri"/>
              </a:rPr>
              <a:t>SEGURIDAD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🔒  Los datos de tus pacientes, protegidos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08760"/>
            <a:ext cx="1005840" cy="41148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03120"/>
            <a:ext cx="102412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1800" b="1">
                <a:solidFill>
                  <a:srgbClr val="2DD4BF"/>
                </a:solidFill>
              </a:rPr>
              <a:t>●  </a:t>
            </a:r>
            <a:r>
              <a:rPr sz="1800" b="1">
                <a:solidFill>
                  <a:srgbClr val="2DD4BF"/>
                </a:solidFill>
              </a:rPr>
              <a:t>Acceso con PIN </a:t>
            </a:r>
            <a:r>
              <a:rPr sz="1800">
                <a:solidFill>
                  <a:srgbClr val="FFFFFF"/>
                </a:solidFill>
              </a:rPr>
              <a:t>propio, para que nadie más entre a la app.</a:t>
            </a:r>
          </a:p>
          <a:p>
            <a:pPr>
              <a:spcAft>
                <a:spcPts val="1800"/>
              </a:spcAft>
            </a:pPr>
            <a:r>
              <a:rPr sz="1800" b="1">
                <a:solidFill>
                  <a:srgbClr val="2DD4BF"/>
                </a:solidFill>
              </a:rPr>
              <a:t>●  </a:t>
            </a:r>
            <a:r>
              <a:rPr sz="1800" b="1">
                <a:solidFill>
                  <a:srgbClr val="2DD4BF"/>
                </a:solidFill>
              </a:rPr>
              <a:t>Perfiles diferenciados: </a:t>
            </a:r>
            <a:r>
              <a:rPr sz="1800">
                <a:solidFill>
                  <a:srgbClr val="FFFFFF"/>
                </a:solidFill>
              </a:rPr>
              <a:t>Médico (acceso completo) y Administrativo (para quien ayuda con la carga).</a:t>
            </a:r>
          </a:p>
          <a:p>
            <a:pPr>
              <a:spcAft>
                <a:spcPts val="1800"/>
              </a:spcAft>
            </a:pPr>
            <a:r>
              <a:rPr sz="1800" b="1">
                <a:solidFill>
                  <a:srgbClr val="2DD4BF"/>
                </a:solidFill>
              </a:rPr>
              <a:t>●  </a:t>
            </a:r>
            <a:r>
              <a:rPr sz="1800" b="1">
                <a:solidFill>
                  <a:srgbClr val="2DD4BF"/>
                </a:solidFill>
              </a:rPr>
              <a:t>Autenticación en dos pasos (2FA) opcional, </a:t>
            </a:r>
            <a:r>
              <a:rPr sz="1800">
                <a:solidFill>
                  <a:srgbClr val="FFFFFF"/>
                </a:solidFill>
              </a:rPr>
              <a:t>para una capa extra de seguridad.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A0AEC7"/>
                </a:solidFill>
                <a:latin typeface="Calibri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4652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A0AEC7"/>
                </a:solidFill>
                <a:latin typeface="Calibri"/>
              </a:rPr>
              <a:t>PediConsult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108960"/>
            <a:ext cx="12191695" cy="54864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286000"/>
            <a:ext cx="121916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Calibri"/>
              </a:rPr>
              <a:t>Menos tiempo cargando datos.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246120"/>
            <a:ext cx="121916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600" b="1" i="0">
                <a:solidFill>
                  <a:srgbClr val="2DD4BF"/>
                </a:solidFill>
                <a:latin typeface="Calibri"/>
              </a:rPr>
              <a:t>Más tiempo con tus pacientes.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4480560"/>
            <a:ext cx="1219169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 i="0">
                <a:solidFill>
                  <a:srgbClr val="A0AEC7"/>
                </a:solidFill>
                <a:latin typeface="Calibri"/>
              </a:rPr>
              <a:t>PediConsult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